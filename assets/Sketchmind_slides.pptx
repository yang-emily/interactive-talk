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1" r:id="rId3"/>
    <p:sldId id="280" r:id="rId4"/>
    <p:sldId id="282" r:id="rId5"/>
    <p:sldId id="273" r:id="rId6"/>
    <p:sldId id="274" r:id="rId7"/>
    <p:sldId id="275" r:id="rId8"/>
    <p:sldId id="258" r:id="rId9"/>
    <p:sldId id="277" r:id="rId10"/>
    <p:sldId id="283" r:id="rId11"/>
    <p:sldId id="272" r:id="rId12"/>
    <p:sldId id="260" r:id="rId13"/>
    <p:sldId id="263" r:id="rId14"/>
    <p:sldId id="264" r:id="rId15"/>
    <p:sldId id="265" r:id="rId16"/>
    <p:sldId id="279" r:id="rId1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1EC"/>
    <a:srgbClr val="9686B9"/>
    <a:srgbClr val="F8F8F8"/>
    <a:srgbClr val="D5A144"/>
    <a:srgbClr val="DAD8EB"/>
    <a:srgbClr val="C2ABEE"/>
    <a:srgbClr val="AAA9B7"/>
    <a:srgbClr val="B49FDE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7"/>
    <p:restoredTop sz="57645"/>
  </p:normalViewPr>
  <p:slideViewPr>
    <p:cSldViewPr snapToGrid="0">
      <p:cViewPr>
        <p:scale>
          <a:sx n="100" d="100"/>
          <a:sy n="100" d="100"/>
        </p:scale>
        <p:origin x="320" y="-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4AB7C-7A97-1440-B88D-AF123C559417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5546E-1A37-B649-9FE9-C96CA50718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8934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6453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students learn a new algorithm, they are often taught through step-by-step descriptions and visual animations. An algorithm is essentially a recipe — a sequence of steps to follow.</a:t>
            </a:r>
          </a:p>
          <a:p>
            <a:r>
              <a:rPr lang="en-GB" dirty="0"/>
              <a:t>However, understanding an algorithm is not just about reading or watching.</a:t>
            </a:r>
          </a:p>
          <a:p>
            <a:r>
              <a:rPr lang="en-GB" dirty="0"/>
              <a:t>Students need to mentally walk through the steps to truly digest them.</a:t>
            </a:r>
          </a:p>
          <a:p>
            <a:r>
              <a:rPr lang="en-GB" dirty="0"/>
              <a:t>At this stage, they may not yet know how to implement the algorithm in code,</a:t>
            </a:r>
          </a:p>
          <a:p>
            <a:r>
              <a:rPr lang="en-GB" dirty="0"/>
              <a:t>and are just beginning to build an understanding of how algorithms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65718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A6D22-D209-FF02-AEE3-18BF354C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795C9-953F-5257-A17A-87F5DC32F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A186F-B6CA-F28E-D8F1-3CF284F38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how can they tell whether they truly understand it?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91277-E447-09DB-67B2-F1037D1B8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92617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common way to check their understanding is to work through the algorithm on a concrete example, sketching each step along the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60948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context, we present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SketchMind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helps users externalize, execute, and check their understanding of a given algorithm.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60396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SketchMind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supports executable tracing.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 can use different pen tools to execute operations in real time.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Bubble Sort, we provide a toolbox of primitives, such as 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swap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64207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on this,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SketchMind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allows users to merge steps into higher-level logic,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 as if-else conditions or loops,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can then be reused as new tools.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50375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support progressive abstraction,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SketchMind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three views: concrete values, indices, and parameters.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47220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Once the user clicks 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system checks the result.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output appears correct but the logic is flawed,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SketchMind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generates a counterexample.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32210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E5A0D-8375-FD6C-E5C1-7E5CCF33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2AE9D-B91C-2344-2153-127BF6E3B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091DB-4532-EBBB-5E48-2D6F6D000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show that the previous example does not complete all required passes, we generate a counterexample with two properties.</a:t>
            </a:r>
            <a:br>
              <a:rPr lang="en-GB" dirty="0"/>
            </a:br>
            <a:r>
              <a:rPr lang="en-GB" dirty="0"/>
              <a:t>First, all of the student’s earlier steps remain valid.</a:t>
            </a:r>
            <a:br>
              <a:rPr lang="en-GB" dirty="0"/>
            </a:br>
            <a:r>
              <a:rPr lang="en-GB" dirty="0"/>
              <a:t>Second, the new example requires additional steps to finish.</a:t>
            </a:r>
          </a:p>
          <a:p>
            <a:r>
              <a:rPr lang="en-GB" dirty="0"/>
              <a:t>This helps reduce student confusion while still exposing the mistake.</a:t>
            </a:r>
            <a:br>
              <a:rPr lang="en-GB" dirty="0"/>
            </a:br>
            <a:r>
              <a:rPr lang="en-GB" dirty="0"/>
              <a:t>We use a logic solver to construct this counterexample.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B558F-F27A-EACC-BEFC-09DC6CFDC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9340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more details about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SketchMind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refer to our paper.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57898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76CB-93FD-8FF7-A28D-7EC5E8FE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93FDC-05A0-D19F-ABA8-795D1E22F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F0169-A123-76E4-9882-6B25EBDCC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0" dirty="0"/>
              <a:t>When learning algorithms, we often begin with pen-and-paper tracing—manually simulating how data changes step by step.</a:t>
            </a:r>
          </a:p>
          <a:p>
            <a:r>
              <a:rPr lang="en-GB" i="0" dirty="0"/>
              <a:t>Let’s follow Alice, a student learning Bubble Sort with an input array:</a:t>
            </a:r>
            <a:br>
              <a:rPr lang="en-GB" i="0" dirty="0"/>
            </a:br>
            <a:r>
              <a:rPr lang="en-GB" i="0" dirty="0"/>
              <a:t>A = [3, 1, 7, 4].</a:t>
            </a:r>
          </a:p>
          <a:p>
            <a:r>
              <a:rPr lang="en-GB" i="0" dirty="0"/>
              <a:t>She starts by comparing 3 and 1…</a:t>
            </a:r>
            <a:br>
              <a:rPr lang="en-GB" i="0" dirty="0"/>
            </a:br>
            <a:r>
              <a:rPr lang="en-GB" i="0" dirty="0"/>
              <a:t>crosses out the old array… rewrites a new one…</a:t>
            </a:r>
            <a:br>
              <a:rPr lang="en-GB" i="0" dirty="0"/>
            </a:br>
            <a:r>
              <a:rPr lang="en-GB" i="0" dirty="0"/>
              <a:t>then continues with the next pair.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E0C65-9592-2CD6-7EDB-6E1531F4E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65798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57874-70AC-25DD-71C6-59821A1C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33D89-A87B-1B82-4A5A-E10EAA5F1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C0B11-2C03-E77B-82B5-25CD6E9BD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process continues, her page fills with scratched-out numbers and fragmented states. 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cope, Alice starts skipping steps or compressing operations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now, mistakes can easily go unnoticed.</a:t>
            </a:r>
            <a:endParaRPr lang="en-GB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523B0-B76E-7273-5D1E-457DD8B82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13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31897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C35BD-C11C-A0C6-5D06-16BCF7A8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BE17F-D50E-0AE7-703C-4F44EB39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1C19A-B34B-3818-D782-0312A158B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Alice senses she is repeating the same actions, but she struggles to describe the pattern. 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 handwriting has become a puzzle, just rows of numbers without structure, 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 it impossible to see the logic or how the steps connect.</a:t>
            </a:r>
            <a:endParaRPr lang="en-GB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0D285-3040-C48B-6A78-75F8F0444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14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589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B766-E0C5-A231-5947-1EC554E4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31108-0034-E8EE-551D-3C546ADC1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7385D-7747-EA69-E39C-00632024A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one pass, the array looks sorted. So Alice find Bubble Sort only needs one pass.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this conclusion is based on a single example, her reasoning fails to generalize.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GB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6A2BC-899B-26D4-991B-0777DD9D0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46E-1A37-B649-9FE9-C96CA50718D6}" type="slidenum">
              <a:rPr lang="en-CH" smtClean="0"/>
              <a:t>15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09585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16B3E-A1EC-0A99-B244-76B20414B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C6B1A-FD78-89BB-1CF2-369FA3C34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106EE-253F-3821-0479-1DA0BC53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40E03-97A3-F2EB-5619-FF7D9FE5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0DD0E-5DD9-A9AF-812E-62C08E39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1836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96C7-FB85-B26F-DCF0-ED76A472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A047C-BAD7-6620-58DC-3141799C3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57CCF-8BA7-4ED0-AD21-9E71A372E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67AF1-C425-FDBA-08A6-5AE1A63C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A138-9725-773C-2F1B-EBC90051F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2632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0CD5-2640-30A3-8098-558916B12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01D84-B158-9500-A740-1CDC72C87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8C9A7-8F40-0928-96B3-DA34978A1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E7643-CEF0-3EB7-D171-A13F0CBD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7E679-7647-7052-D34B-4E2DE27B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4254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254A-4B96-28FB-6606-5F8A4BAA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58E21-84BC-AC52-85E2-04BFC988F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A2672-D4F1-BD9F-EEA0-10E2FD04B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54D7A-FCA2-053D-B944-2B8FBD6D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71D16-6E5F-DE87-4DDF-7B2074FE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F5AA2-A021-AABA-430E-BCA828F9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2382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D1BB-690F-F84F-0DD2-05F099DDA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86DC5-85BF-3288-603F-423937074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2345C-9B1D-B51A-94C6-55170E3D3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D4010D-41D8-5F50-16CD-D75F915CC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21879-8EA9-F83D-9B03-B06053A0B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22234-B930-75F6-F773-75BEE262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52C84-2E28-3616-5892-6F9731FC4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01DB8-F17A-D2D3-FCBA-D02CD181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065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23E1-3F1F-1366-E59B-B59BBB0A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63A42-AFCF-AF7A-3C1B-51159476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3D0D1-7C0A-84EF-03F9-D64F66CB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AEBA3-32C9-618A-F796-311BEC7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8553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EC591-A574-20E1-7300-8AF4BF13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9F193-9339-9160-026B-798E8271D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51E16-5BBD-2777-74E5-106C1DA0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6487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B1EE-A056-88F2-4D80-D31E5DB64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7651-CB13-DF7A-47FA-D3A3ADCA4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ADE51-A30C-2DD5-F038-5588AE25F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67F0D-F0D2-F136-8BED-C23B1D34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9215D-5B25-DD0A-5D55-EB5EBEEF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7173E-0602-BD4F-27C9-9ECC33C2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9027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4E78-7FC3-6E28-15C7-5714DDF9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544BB-DC9F-A50F-22BF-50A767A3D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0BCC9-24C1-30C5-8CA0-CB7C0773B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F4381-BEEB-1EA5-4759-3B3B97E1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4F2EE-38B3-489E-2AC2-FA4A6A6A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0F673-373C-D0BD-05F7-AE5A814E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0007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7A09-651B-CFEE-0296-78E5A41A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5E51D-BAF8-C71A-A1A1-82C2BCDF9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8297F-253D-C3BA-8914-4C5F665F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0913-F4E3-B685-2AA0-A1F1A88C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A92FD-6BB6-05B0-DB7A-B9922FD6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6612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E99E3-AD0F-D54A-3247-AB5113315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14837-1786-BD79-30DF-22EC33B39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9A467-6EDB-EA5D-1154-28125D6C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332E7-DD8D-3B24-884C-0A4EEA39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31124-52F5-7027-0113-EF32F993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005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AA859-F53A-9422-A5FE-EF416551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98578-008C-47AC-EC79-B6F49BDDD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C4607-834F-636D-B89B-3127531D6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38523-93BE-164F-92D1-E2BEEB233274}" type="datetimeFigureOut">
              <a:rPr lang="en-CH" smtClean="0"/>
              <a:t>30.05.2026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458B8-10B2-1E82-8658-812D3A515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10473-45A7-0D99-AF0F-3D076C47E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7A7E0-086B-524E-9474-AFA65510DFE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1553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svg"/><Relationship Id="rId19" Type="http://schemas.openxmlformats.org/officeDocument/2006/relationships/image" Target="../media/image21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18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6.png"/><Relationship Id="rId5" Type="http://schemas.openxmlformats.org/officeDocument/2006/relationships/image" Target="../media/image24.png"/><Relationship Id="rId15" Type="http://schemas.openxmlformats.org/officeDocument/2006/relationships/image" Target="../media/image30.svg"/><Relationship Id="rId10" Type="http://schemas.openxmlformats.org/officeDocument/2006/relationships/image" Target="../media/image21.svg"/><Relationship Id="rId4" Type="http://schemas.openxmlformats.org/officeDocument/2006/relationships/image" Target="../media/image23.svg"/><Relationship Id="rId9" Type="http://schemas.openxmlformats.org/officeDocument/2006/relationships/image" Target="../media/image20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968C-9726-1858-8A70-61AE36504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52" y="2807051"/>
            <a:ext cx="10792496" cy="1243897"/>
          </a:xfrm>
        </p:spPr>
        <p:txBody>
          <a:bodyPr>
            <a:normAutofit/>
          </a:bodyPr>
          <a:lstStyle/>
          <a:p>
            <a:r>
              <a:rPr lang="en-GB" sz="3600" dirty="0" err="1">
                <a:latin typeface="Arial" panose="020B0604020202020204" pitchFamily="34" charset="0"/>
                <a:cs typeface="Arial" panose="020B0604020202020204" pitchFamily="34" charset="0"/>
              </a:rPr>
              <a:t>SketchMind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Supporting Algorithmic Reasoning through Executable Sketching</a:t>
            </a:r>
            <a:endParaRPr lang="en-CH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74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1CFD1C-7804-319F-F837-566B14D97F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t="440" r="6762" b="4160"/>
          <a:stretch>
            <a:fillRect/>
          </a:stretch>
        </p:blipFill>
        <p:spPr>
          <a:xfrm>
            <a:off x="-28299" y="1344"/>
            <a:ext cx="12240177" cy="68580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348D53-4A5E-3570-6362-A299CA4C1E87}"/>
              </a:ext>
            </a:extLst>
          </p:cNvPr>
          <p:cNvSpPr/>
          <p:nvPr/>
        </p:nvSpPr>
        <p:spPr>
          <a:xfrm>
            <a:off x="1084774" y="773727"/>
            <a:ext cx="5662908" cy="5433641"/>
          </a:xfrm>
          <a:prstGeom prst="roundRect">
            <a:avLst>
              <a:gd name="adj" fmla="val 11708"/>
            </a:avLst>
          </a:prstGeom>
          <a:solidFill>
            <a:schemeClr val="bg1">
              <a:alpha val="78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H" sz="2400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FD76CE-98A2-6306-23A8-75EA39DF382C}"/>
              </a:ext>
            </a:extLst>
          </p:cNvPr>
          <p:cNvSpPr/>
          <p:nvPr/>
        </p:nvSpPr>
        <p:spPr>
          <a:xfrm>
            <a:off x="7193311" y="1230923"/>
            <a:ext cx="4359545" cy="4517292"/>
          </a:xfrm>
          <a:prstGeom prst="roundRect">
            <a:avLst>
              <a:gd name="adj" fmla="val 7817"/>
            </a:avLst>
          </a:prstGeom>
          <a:solidFill>
            <a:schemeClr val="bg1">
              <a:alpha val="78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H" dirty="0">
              <a:solidFill>
                <a:schemeClr val="tx1"/>
              </a:solidFill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2CC41B5-23E3-A474-C3F6-A1C102FCC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327" y="1633414"/>
            <a:ext cx="3517900" cy="326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87A5D6-F46B-2952-F63B-C05AC3F3F235}"/>
              </a:ext>
            </a:extLst>
          </p:cNvPr>
          <p:cNvSpPr txBox="1"/>
          <p:nvPr/>
        </p:nvSpPr>
        <p:spPr>
          <a:xfrm>
            <a:off x="8239162" y="5022556"/>
            <a:ext cx="3079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dirty="0"/>
              <a:t>——</a:t>
            </a:r>
            <a:r>
              <a:rPr lang="en-GB" dirty="0"/>
              <a:t>Bubble sort animation, Wikimedia Commons</a:t>
            </a:r>
            <a:endParaRPr lang="en-C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986DCF-1BEA-EC5E-A701-8A5272544130}"/>
              </a:ext>
            </a:extLst>
          </p:cNvPr>
          <p:cNvSpPr txBox="1"/>
          <p:nvPr/>
        </p:nvSpPr>
        <p:spPr>
          <a:xfrm>
            <a:off x="1403609" y="956405"/>
            <a:ext cx="53276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The bubble-sort algorithm on a sequence of integers. For each pass, the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GB" sz="2000" dirty="0">
                <a:solidFill>
                  <a:schemeClr val="tx1"/>
                </a:solidFill>
              </a:rPr>
              <a:t>swaps performed and the sequence after the pass are shown.</a:t>
            </a:r>
            <a:endParaRPr lang="en-CH" sz="24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AB4CD-DED7-9F2A-9859-85425E62471E}"/>
              </a:ext>
            </a:extLst>
          </p:cNvPr>
          <p:cNvSpPr txBox="1"/>
          <p:nvPr/>
        </p:nvSpPr>
        <p:spPr>
          <a:xfrm>
            <a:off x="1419990" y="2010648"/>
            <a:ext cx="513417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• In the first pass, once the largest element is reached, it keeps on being swapped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GB" sz="2000" dirty="0">
                <a:solidFill>
                  <a:schemeClr val="tx1"/>
                </a:solidFill>
              </a:rPr>
              <a:t>until it gets to the last position of the sequence.</a:t>
            </a:r>
            <a:endParaRPr lang="en-CH" sz="2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ABC6C5-63FC-CE87-A898-24A2BB2ACE22}"/>
              </a:ext>
            </a:extLst>
          </p:cNvPr>
          <p:cNvSpPr txBox="1"/>
          <p:nvPr/>
        </p:nvSpPr>
        <p:spPr>
          <a:xfrm>
            <a:off x="1428182" y="3007163"/>
            <a:ext cx="51341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• In the second pass, once the second largest element is reached, it keeps on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GB" sz="2000" dirty="0">
                <a:solidFill>
                  <a:schemeClr val="tx1"/>
                </a:solidFill>
              </a:rPr>
              <a:t>being swapped until it gets to the second-to-last position of the sequence.</a:t>
            </a:r>
            <a:endParaRPr lang="en-CH" sz="24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3B507B-53D3-6CEC-AB2E-A9D6EC7290E1}"/>
              </a:ext>
            </a:extLst>
          </p:cNvPr>
          <p:cNvSpPr txBox="1"/>
          <p:nvPr/>
        </p:nvSpPr>
        <p:spPr>
          <a:xfrm>
            <a:off x="1403609" y="4320105"/>
            <a:ext cx="5327692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• In general, at the end of the </a:t>
            </a:r>
            <a:r>
              <a:rPr lang="en-GB" sz="2000" dirty="0" err="1">
                <a:solidFill>
                  <a:schemeClr val="tx1"/>
                </a:solidFill>
              </a:rPr>
              <a:t>ith</a:t>
            </a:r>
            <a:r>
              <a:rPr lang="en-GB" sz="2000" dirty="0">
                <a:solidFill>
                  <a:schemeClr val="tx1"/>
                </a:solidFill>
              </a:rPr>
              <a:t> pass, the right-most </a:t>
            </a:r>
            <a:r>
              <a:rPr lang="en-GB" sz="2000" dirty="0" err="1">
                <a:solidFill>
                  <a:schemeClr val="tx1"/>
                </a:solidFill>
              </a:rPr>
              <a:t>i</a:t>
            </a:r>
            <a:r>
              <a:rPr lang="en-GB" sz="2000" dirty="0">
                <a:solidFill>
                  <a:schemeClr val="tx1"/>
                </a:solidFill>
              </a:rPr>
              <a:t> elements of the sequence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GB" sz="2000" dirty="0">
                <a:solidFill>
                  <a:schemeClr val="tx1"/>
                </a:solidFill>
              </a:rPr>
              <a:t>(that is, those at indices from n − 1 down to n − </a:t>
            </a:r>
            <a:r>
              <a:rPr lang="en-GB" sz="2000" dirty="0" err="1">
                <a:solidFill>
                  <a:schemeClr val="tx1"/>
                </a:solidFill>
              </a:rPr>
              <a:t>i</a:t>
            </a:r>
            <a:r>
              <a:rPr lang="en-GB" sz="2000" dirty="0">
                <a:solidFill>
                  <a:schemeClr val="tx1"/>
                </a:solidFill>
              </a:rPr>
              <a:t>) are in final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GB" sz="2000" dirty="0">
                <a:solidFill>
                  <a:schemeClr val="tx1"/>
                </a:solidFill>
              </a:rPr>
              <a:t>position.</a:t>
            </a:r>
            <a:endParaRPr lang="en-GB" sz="1800" dirty="0">
              <a:solidFill>
                <a:schemeClr val="tx1"/>
              </a:solidFill>
            </a:endParaRPr>
          </a:p>
          <a:p>
            <a:pPr lvl="0" algn="r"/>
            <a:r>
              <a:rPr lang="en-US" altLang="zh-CN" dirty="0">
                <a:solidFill>
                  <a:prstClr val="black"/>
                </a:solidFill>
              </a:rPr>
              <a:t>—— Goodrich, M. </a:t>
            </a:r>
            <a:r>
              <a:rPr lang="en-US" altLang="zh-CN" dirty="0" err="1">
                <a:solidFill>
                  <a:prstClr val="black"/>
                </a:solidFill>
              </a:rPr>
              <a:t>T.,《Data</a:t>
            </a:r>
            <a:r>
              <a:rPr lang="en-US" altLang="zh-CN" dirty="0">
                <a:solidFill>
                  <a:prstClr val="black"/>
                </a:solidFill>
              </a:rPr>
              <a:t> Structures and Algorithms in C++》</a:t>
            </a:r>
            <a:endParaRPr lang="en-CH" sz="2000" dirty="0">
              <a:solidFill>
                <a:prstClr val="black"/>
              </a:solidFill>
            </a:endParaRPr>
          </a:p>
          <a:p>
            <a:endParaRPr lang="en-GB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16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  <p:bldP spid="11" grpId="0" animBg="1"/>
      <p:bldP spid="10" grpId="0"/>
      <p:bldP spid="13" grpId="0"/>
      <p:bldP spid="17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2DB2-2256-6CC1-14AC-F6EED7E5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40F1DA-C83D-65F5-ADA7-97CBA62354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686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E46A2-6B24-FFD5-A1BF-35121C968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52" y="2807051"/>
            <a:ext cx="10792496" cy="1243897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students learn an algorithm, </a:t>
            </a:r>
            <a:br>
              <a:rPr lang="en-GB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know they actually understand it?</a:t>
            </a:r>
            <a:endParaRPr lang="en-CH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0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3F9EA-2DBA-246F-8CD5-330B9C19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holding a pen writing on a piece of paper&#10;&#10;AI-generated content may be incorrect.">
            <a:extLst>
              <a:ext uri="{FF2B5EF4-FFF2-40B4-BE49-F238E27FC236}">
                <a16:creationId xmlns:a16="http://schemas.microsoft.com/office/drawing/2014/main" id="{3A04697B-A954-E282-8101-BC1E18C20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87" b="9672"/>
          <a:stretch>
            <a:fillRect/>
          </a:stretch>
        </p:blipFill>
        <p:spPr>
          <a:xfrm>
            <a:off x="-175846" y="-29254"/>
            <a:ext cx="12496894" cy="693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1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B7F429A-88E2-885C-A273-56305AA1061C}"/>
              </a:ext>
            </a:extLst>
          </p:cNvPr>
          <p:cNvGrpSpPr/>
          <p:nvPr/>
        </p:nvGrpSpPr>
        <p:grpSpPr>
          <a:xfrm>
            <a:off x="569050" y="1565121"/>
            <a:ext cx="11511117" cy="4889274"/>
            <a:chOff x="569050" y="1565121"/>
            <a:chExt cx="11511117" cy="488927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FE631C7-1CF5-9997-17D1-84DAF327F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6" t="187" b="576"/>
            <a:stretch>
              <a:fillRect/>
            </a:stretch>
          </p:blipFill>
          <p:spPr>
            <a:xfrm>
              <a:off x="569050" y="1565121"/>
              <a:ext cx="11053899" cy="4296804"/>
            </a:xfrm>
            <a:prstGeom prst="rect">
              <a:avLst/>
            </a:prstGeom>
            <a:effectLst>
              <a:outerShdw blurRad="802325" sx="61000" sy="61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30D751-54EE-6DD7-4F2A-DC04B2D9D651}"/>
                </a:ext>
              </a:extLst>
            </p:cNvPr>
            <p:cNvSpPr txBox="1"/>
            <p:nvPr/>
          </p:nvSpPr>
          <p:spPr>
            <a:xfrm>
              <a:off x="1026267" y="6085063"/>
              <a:ext cx="110539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8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  Executable Tracing</a:t>
              </a:r>
              <a:r>
                <a:rPr lang="zh-CN" altLang="en-US" sz="18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       </a:t>
              </a:r>
              <a:r>
                <a:rPr lang="en-US" altLang="zh-CN" sz="18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zh-CN" altLang="en-US" sz="18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lang="en-GB" b="1" dirty="0"/>
                <a:t>Reusable Pens</a:t>
              </a:r>
              <a:r>
                <a:rPr lang="zh-CN" altLang="en-US" b="1" dirty="0"/>
                <a:t>         </a:t>
              </a:r>
              <a:r>
                <a:rPr lang="en-GB" b="1" dirty="0"/>
                <a:t>Progressive Abstraction</a:t>
              </a:r>
              <a:r>
                <a:rPr lang="zh-CN" altLang="en-US" b="1" dirty="0"/>
                <a:t>      </a:t>
              </a:r>
              <a:r>
                <a:rPr lang="en-GB" b="1" dirty="0"/>
                <a:t>Counterexample Generation</a:t>
              </a:r>
              <a:endParaRPr lang="en-CH" dirty="0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5BB4AA87-97ED-B696-1A05-4044FA29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050" y="365125"/>
            <a:ext cx="11053899" cy="1122176"/>
          </a:xfrm>
        </p:spPr>
        <p:txBody>
          <a:bodyPr>
            <a:normAutofit/>
          </a:bodyPr>
          <a:lstStyle/>
          <a:p>
            <a:r>
              <a:rPr lang="en-GB" sz="2700" dirty="0">
                <a:latin typeface="Arial" panose="020B0604020202020204" pitchFamily="34" charset="0"/>
                <a:cs typeface="Arial" panose="020B0604020202020204" pitchFamily="34" charset="0"/>
              </a:rPr>
              <a:t>Supporting Algorithmic Reasoning through Executable Sketching</a:t>
            </a:r>
            <a:endParaRPr lang="en-CH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E8065A-4BD9-BB74-C45B-8E05B6FC7088}"/>
              </a:ext>
            </a:extLst>
          </p:cNvPr>
          <p:cNvSpPr/>
          <p:nvPr/>
        </p:nvSpPr>
        <p:spPr>
          <a:xfrm>
            <a:off x="569049" y="1487301"/>
            <a:ext cx="2998903" cy="5092793"/>
          </a:xfrm>
          <a:prstGeom prst="roundRect">
            <a:avLst/>
          </a:prstGeom>
          <a:solidFill>
            <a:srgbClr val="9686B9">
              <a:alpha val="2658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5238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60085-673F-E89B-7D9F-8B4A7FB1F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64" b="12299"/>
          <a:stretch>
            <a:fillRect/>
          </a:stretch>
        </p:blipFill>
        <p:spPr>
          <a:xfrm>
            <a:off x="4877808" y="3145778"/>
            <a:ext cx="1635869" cy="1543374"/>
          </a:xfrm>
          <a:prstGeom prst="rect">
            <a:avLst/>
          </a:prstGeom>
        </p:spPr>
      </p:pic>
      <p:pic>
        <p:nvPicPr>
          <p:cNvPr id="5" name="Graphic 4" descr="Scribble with solid fill">
            <a:extLst>
              <a:ext uri="{FF2B5EF4-FFF2-40B4-BE49-F238E27FC236}">
                <a16:creationId xmlns:a16="http://schemas.microsoft.com/office/drawing/2014/main" id="{F87870B7-1970-24C8-80E9-51C48DB3C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075" y="3512599"/>
            <a:ext cx="696880" cy="694752"/>
          </a:xfrm>
          <a:prstGeom prst="rect">
            <a:avLst/>
          </a:prstGeom>
        </p:spPr>
      </p:pic>
      <p:pic>
        <p:nvPicPr>
          <p:cNvPr id="6" name="Graphic 5" descr="Touchscreen outline">
            <a:extLst>
              <a:ext uri="{FF2B5EF4-FFF2-40B4-BE49-F238E27FC236}">
                <a16:creationId xmlns:a16="http://schemas.microsoft.com/office/drawing/2014/main" id="{93477D84-FE24-48D7-E6B8-A05C9689FB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3851" y="2158330"/>
            <a:ext cx="929328" cy="926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B9672C-0971-C35E-CB02-C8494EC7AE6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248" t="13108" r="-10248" b="3375"/>
          <a:stretch>
            <a:fillRect/>
          </a:stretch>
        </p:blipFill>
        <p:spPr>
          <a:xfrm>
            <a:off x="9014523" y="3097794"/>
            <a:ext cx="1436623" cy="1472222"/>
          </a:xfrm>
          <a:prstGeom prst="rect">
            <a:avLst/>
          </a:prstGeom>
        </p:spPr>
      </p:pic>
      <p:pic>
        <p:nvPicPr>
          <p:cNvPr id="8" name="Graphic 7" descr="Scribble with solid fill">
            <a:extLst>
              <a:ext uri="{FF2B5EF4-FFF2-40B4-BE49-F238E27FC236}">
                <a16:creationId xmlns:a16="http://schemas.microsoft.com/office/drawing/2014/main" id="{EF65C596-81B1-D061-003C-049C0B1F15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40698" y="3583099"/>
            <a:ext cx="622873" cy="694752"/>
          </a:xfrm>
          <a:prstGeom prst="rect">
            <a:avLst/>
          </a:prstGeom>
        </p:spPr>
      </p:pic>
      <p:pic>
        <p:nvPicPr>
          <p:cNvPr id="9" name="Graphic 8" descr="Touchscreen outline">
            <a:extLst>
              <a:ext uri="{FF2B5EF4-FFF2-40B4-BE49-F238E27FC236}">
                <a16:creationId xmlns:a16="http://schemas.microsoft.com/office/drawing/2014/main" id="{B08B8FC7-5BC9-EDAA-6C64-F6AE0ADD7C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24472" y="2181403"/>
            <a:ext cx="929328" cy="926489"/>
          </a:xfrm>
          <a:prstGeom prst="rect">
            <a:avLst/>
          </a:prstGeom>
        </p:spPr>
      </p:pic>
      <p:pic>
        <p:nvPicPr>
          <p:cNvPr id="10" name="Graphic 9" descr="Touchscreen outline">
            <a:extLst>
              <a:ext uri="{FF2B5EF4-FFF2-40B4-BE49-F238E27FC236}">
                <a16:creationId xmlns:a16="http://schemas.microsoft.com/office/drawing/2014/main" id="{037709F4-595C-ED97-B803-D289294785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0395" y="2182313"/>
            <a:ext cx="929328" cy="9264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967C6C-8F03-E6EE-0EF4-C4BCE8DA5C5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0710"/>
          <a:stretch>
            <a:fillRect/>
          </a:stretch>
        </p:blipFill>
        <p:spPr>
          <a:xfrm>
            <a:off x="1199942" y="3084820"/>
            <a:ext cx="1401061" cy="1382955"/>
          </a:xfrm>
          <a:prstGeom prst="rect">
            <a:avLst/>
          </a:prstGeom>
        </p:spPr>
      </p:pic>
      <p:pic>
        <p:nvPicPr>
          <p:cNvPr id="12" name="Graphic 11" descr="Scribble with solid fill">
            <a:extLst>
              <a:ext uri="{FF2B5EF4-FFF2-40B4-BE49-F238E27FC236}">
                <a16:creationId xmlns:a16="http://schemas.microsoft.com/office/drawing/2014/main" id="{E946ED4A-E149-731B-F7F4-A0A1FA0EC1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61917" y="3565668"/>
            <a:ext cx="696880" cy="694752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4853022-18F8-9EC0-8279-A9163D84E347}"/>
              </a:ext>
            </a:extLst>
          </p:cNvPr>
          <p:cNvSpPr/>
          <p:nvPr/>
        </p:nvSpPr>
        <p:spPr>
          <a:xfrm>
            <a:off x="838200" y="4794543"/>
            <a:ext cx="2352905" cy="682535"/>
          </a:xfrm>
          <a:prstGeom prst="roundRect">
            <a:avLst>
              <a:gd name="adj" fmla="val 32482"/>
            </a:avLst>
          </a:prstGeom>
          <a:solidFill>
            <a:srgbClr val="F9FAFB"/>
          </a:solidFill>
          <a:ln>
            <a:solidFill>
              <a:srgbClr val="6C72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975238" rtlCol="0" anchor="ctr"/>
          <a:lstStyle/>
          <a:p>
            <a:pPr algn="ctr"/>
            <a:r>
              <a:rPr lang="en-CH" sz="2000" b="1" dirty="0">
                <a:solidFill>
                  <a:srgbClr val="6C72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[3, 1]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699D99-E13A-3614-6360-307FFAC25B48}"/>
              </a:ext>
            </a:extLst>
          </p:cNvPr>
          <p:cNvSpPr/>
          <p:nvPr/>
        </p:nvSpPr>
        <p:spPr>
          <a:xfrm>
            <a:off x="3961599" y="4803863"/>
            <a:ext cx="4027112" cy="682538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rgbClr val="E0C3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 b="1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79B3FD-DC62-D314-F289-7A5D21AC220C}"/>
              </a:ext>
            </a:extLst>
          </p:cNvPr>
          <p:cNvSpPr/>
          <p:nvPr/>
        </p:nvSpPr>
        <p:spPr>
          <a:xfrm>
            <a:off x="8567330" y="4795953"/>
            <a:ext cx="2352905" cy="681125"/>
          </a:xfrm>
          <a:prstGeom prst="roundRect">
            <a:avLst>
              <a:gd name="adj" fmla="val 37122"/>
            </a:avLst>
          </a:prstGeom>
          <a:solidFill>
            <a:srgbClr val="FBF5FF"/>
          </a:solidFill>
          <a:ln>
            <a:solidFill>
              <a:srgbClr val="EDD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665CAE2-EB60-9331-1DDC-A6C4920275B7}"/>
              </a:ext>
            </a:extLst>
          </p:cNvPr>
          <p:cNvSpPr/>
          <p:nvPr/>
        </p:nvSpPr>
        <p:spPr>
          <a:xfrm>
            <a:off x="6584787" y="4998029"/>
            <a:ext cx="506683" cy="250880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b="1" dirty="0">
                <a:solidFill>
                  <a:schemeClr val="accent3"/>
                </a:solidFill>
              </a:rPr>
              <a:t>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E214A5-A4A3-4BC3-DE6A-49B09C3F3412}"/>
              </a:ext>
            </a:extLst>
          </p:cNvPr>
          <p:cNvSpPr txBox="1"/>
          <p:nvPr/>
        </p:nvSpPr>
        <p:spPr>
          <a:xfrm>
            <a:off x="3961599" y="4944933"/>
            <a:ext cx="2722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CH" sz="20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s_bigger(3,1)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F60EC5-7929-EA42-D35D-2CD131314198}"/>
              </a:ext>
            </a:extLst>
          </p:cNvPr>
          <p:cNvSpPr/>
          <p:nvPr/>
        </p:nvSpPr>
        <p:spPr>
          <a:xfrm>
            <a:off x="7169952" y="4998027"/>
            <a:ext cx="661662" cy="250880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b="1" dirty="0">
                <a:solidFill>
                  <a:srgbClr val="6C7280"/>
                </a:solidFill>
              </a:rPr>
              <a:t>False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0F5879-6744-1ED1-E5EB-D0A12934A55E}"/>
              </a:ext>
            </a:extLst>
          </p:cNvPr>
          <p:cNvSpPr txBox="1"/>
          <p:nvPr/>
        </p:nvSpPr>
        <p:spPr>
          <a:xfrm>
            <a:off x="8524872" y="4940044"/>
            <a:ext cx="2102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swap</a:t>
            </a:r>
            <a:r>
              <a:rPr lang="en-CH" sz="20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(3,1)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377C070-A825-998C-10C1-A36BAE6A56A8}"/>
              </a:ext>
            </a:extLst>
          </p:cNvPr>
          <p:cNvSpPr/>
          <p:nvPr/>
        </p:nvSpPr>
        <p:spPr>
          <a:xfrm>
            <a:off x="854342" y="2919137"/>
            <a:ext cx="283872" cy="441687"/>
          </a:xfrm>
          <a:custGeom>
            <a:avLst/>
            <a:gdLst>
              <a:gd name="connsiteX0" fmla="*/ 123365 w 196517"/>
              <a:gd name="connsiteY0" fmla="*/ 0 h 694944"/>
              <a:gd name="connsiteX1" fmla="*/ 1445 w 196517"/>
              <a:gd name="connsiteY1" fmla="*/ 414528 h 694944"/>
              <a:gd name="connsiteX2" fmla="*/ 196517 w 196517"/>
              <a:gd name="connsiteY2" fmla="*/ 694944 h 69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517" h="694944">
                <a:moveTo>
                  <a:pt x="123365" y="0"/>
                </a:moveTo>
                <a:cubicBezTo>
                  <a:pt x="56309" y="149352"/>
                  <a:pt x="-10747" y="298704"/>
                  <a:pt x="1445" y="414528"/>
                </a:cubicBezTo>
                <a:cubicBezTo>
                  <a:pt x="13637" y="530352"/>
                  <a:pt x="105077" y="612648"/>
                  <a:pt x="196517" y="694944"/>
                </a:cubicBezTo>
              </a:path>
            </a:pathLst>
          </a:custGeom>
          <a:noFill/>
          <a:ln w="12700">
            <a:solidFill>
              <a:schemeClr val="bg2">
                <a:lumMod val="90000"/>
              </a:schemeClr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37C3918-6FA0-C503-54AF-FAAA71A90791}"/>
              </a:ext>
            </a:extLst>
          </p:cNvPr>
          <p:cNvSpPr/>
          <p:nvPr/>
        </p:nvSpPr>
        <p:spPr>
          <a:xfrm rot="1063672">
            <a:off x="924856" y="4117145"/>
            <a:ext cx="171729" cy="488427"/>
          </a:xfrm>
          <a:custGeom>
            <a:avLst/>
            <a:gdLst>
              <a:gd name="connsiteX0" fmla="*/ 123365 w 196517"/>
              <a:gd name="connsiteY0" fmla="*/ 0 h 694944"/>
              <a:gd name="connsiteX1" fmla="*/ 1445 w 196517"/>
              <a:gd name="connsiteY1" fmla="*/ 414528 h 694944"/>
              <a:gd name="connsiteX2" fmla="*/ 196517 w 196517"/>
              <a:gd name="connsiteY2" fmla="*/ 694944 h 69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517" h="694944">
                <a:moveTo>
                  <a:pt x="123365" y="0"/>
                </a:moveTo>
                <a:cubicBezTo>
                  <a:pt x="56309" y="149352"/>
                  <a:pt x="-10747" y="298704"/>
                  <a:pt x="1445" y="414528"/>
                </a:cubicBezTo>
                <a:cubicBezTo>
                  <a:pt x="13637" y="530352"/>
                  <a:pt x="105077" y="612648"/>
                  <a:pt x="196517" y="694944"/>
                </a:cubicBezTo>
              </a:path>
            </a:pathLst>
          </a:custGeom>
          <a:noFill/>
          <a:ln w="12700">
            <a:solidFill>
              <a:schemeClr val="bg2">
                <a:lumMod val="90000"/>
              </a:schemeClr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6A4B6B3E-A7A7-E6D2-BAF7-3AC62E03A8E5}"/>
              </a:ext>
            </a:extLst>
          </p:cNvPr>
          <p:cNvSpPr/>
          <p:nvPr/>
        </p:nvSpPr>
        <p:spPr>
          <a:xfrm>
            <a:off x="4336866" y="2948022"/>
            <a:ext cx="283872" cy="441687"/>
          </a:xfrm>
          <a:custGeom>
            <a:avLst/>
            <a:gdLst>
              <a:gd name="connsiteX0" fmla="*/ 123365 w 196517"/>
              <a:gd name="connsiteY0" fmla="*/ 0 h 694944"/>
              <a:gd name="connsiteX1" fmla="*/ 1445 w 196517"/>
              <a:gd name="connsiteY1" fmla="*/ 414528 h 694944"/>
              <a:gd name="connsiteX2" fmla="*/ 196517 w 196517"/>
              <a:gd name="connsiteY2" fmla="*/ 694944 h 69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517" h="694944">
                <a:moveTo>
                  <a:pt x="123365" y="0"/>
                </a:moveTo>
                <a:cubicBezTo>
                  <a:pt x="56309" y="149352"/>
                  <a:pt x="-10747" y="298704"/>
                  <a:pt x="1445" y="414528"/>
                </a:cubicBezTo>
                <a:cubicBezTo>
                  <a:pt x="13637" y="530352"/>
                  <a:pt x="105077" y="612648"/>
                  <a:pt x="196517" y="694944"/>
                </a:cubicBezTo>
              </a:path>
            </a:pathLst>
          </a:custGeom>
          <a:noFill/>
          <a:ln w="12700">
            <a:solidFill>
              <a:schemeClr val="bg2">
                <a:lumMod val="90000"/>
              </a:schemeClr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7E2DEAB-0D81-EEEA-5727-9EF5AF01B3FA}"/>
              </a:ext>
            </a:extLst>
          </p:cNvPr>
          <p:cNvSpPr/>
          <p:nvPr/>
        </p:nvSpPr>
        <p:spPr>
          <a:xfrm rot="1063672">
            <a:off x="4407380" y="4146031"/>
            <a:ext cx="171729" cy="488427"/>
          </a:xfrm>
          <a:custGeom>
            <a:avLst/>
            <a:gdLst>
              <a:gd name="connsiteX0" fmla="*/ 123365 w 196517"/>
              <a:gd name="connsiteY0" fmla="*/ 0 h 694944"/>
              <a:gd name="connsiteX1" fmla="*/ 1445 w 196517"/>
              <a:gd name="connsiteY1" fmla="*/ 414528 h 694944"/>
              <a:gd name="connsiteX2" fmla="*/ 196517 w 196517"/>
              <a:gd name="connsiteY2" fmla="*/ 694944 h 69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517" h="694944">
                <a:moveTo>
                  <a:pt x="123365" y="0"/>
                </a:moveTo>
                <a:cubicBezTo>
                  <a:pt x="56309" y="149352"/>
                  <a:pt x="-10747" y="298704"/>
                  <a:pt x="1445" y="414528"/>
                </a:cubicBezTo>
                <a:cubicBezTo>
                  <a:pt x="13637" y="530352"/>
                  <a:pt x="105077" y="612648"/>
                  <a:pt x="196517" y="694944"/>
                </a:cubicBezTo>
              </a:path>
            </a:pathLst>
          </a:custGeom>
          <a:noFill/>
          <a:ln w="12700">
            <a:solidFill>
              <a:schemeClr val="bg2">
                <a:lumMod val="90000"/>
              </a:schemeClr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0B74180-1AD2-C831-E1E9-F96EEADCCB4C}"/>
              </a:ext>
            </a:extLst>
          </p:cNvPr>
          <p:cNvSpPr/>
          <p:nvPr/>
        </p:nvSpPr>
        <p:spPr>
          <a:xfrm>
            <a:off x="8524871" y="2932820"/>
            <a:ext cx="283872" cy="441687"/>
          </a:xfrm>
          <a:custGeom>
            <a:avLst/>
            <a:gdLst>
              <a:gd name="connsiteX0" fmla="*/ 123365 w 196517"/>
              <a:gd name="connsiteY0" fmla="*/ 0 h 694944"/>
              <a:gd name="connsiteX1" fmla="*/ 1445 w 196517"/>
              <a:gd name="connsiteY1" fmla="*/ 414528 h 694944"/>
              <a:gd name="connsiteX2" fmla="*/ 196517 w 196517"/>
              <a:gd name="connsiteY2" fmla="*/ 694944 h 69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517" h="694944">
                <a:moveTo>
                  <a:pt x="123365" y="0"/>
                </a:moveTo>
                <a:cubicBezTo>
                  <a:pt x="56309" y="149352"/>
                  <a:pt x="-10747" y="298704"/>
                  <a:pt x="1445" y="414528"/>
                </a:cubicBezTo>
                <a:cubicBezTo>
                  <a:pt x="13637" y="530352"/>
                  <a:pt x="105077" y="612648"/>
                  <a:pt x="196517" y="694944"/>
                </a:cubicBezTo>
              </a:path>
            </a:pathLst>
          </a:custGeom>
          <a:noFill/>
          <a:ln w="12700">
            <a:solidFill>
              <a:schemeClr val="bg2">
                <a:lumMod val="90000"/>
              </a:schemeClr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75EC01DE-C839-2711-E0D8-9406801B8064}"/>
              </a:ext>
            </a:extLst>
          </p:cNvPr>
          <p:cNvSpPr/>
          <p:nvPr/>
        </p:nvSpPr>
        <p:spPr>
          <a:xfrm rot="1063672">
            <a:off x="8595385" y="4130828"/>
            <a:ext cx="171729" cy="488427"/>
          </a:xfrm>
          <a:custGeom>
            <a:avLst/>
            <a:gdLst>
              <a:gd name="connsiteX0" fmla="*/ 123365 w 196517"/>
              <a:gd name="connsiteY0" fmla="*/ 0 h 694944"/>
              <a:gd name="connsiteX1" fmla="*/ 1445 w 196517"/>
              <a:gd name="connsiteY1" fmla="*/ 414528 h 694944"/>
              <a:gd name="connsiteX2" fmla="*/ 196517 w 196517"/>
              <a:gd name="connsiteY2" fmla="*/ 694944 h 69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517" h="694944">
                <a:moveTo>
                  <a:pt x="123365" y="0"/>
                </a:moveTo>
                <a:cubicBezTo>
                  <a:pt x="56309" y="149352"/>
                  <a:pt x="-10747" y="298704"/>
                  <a:pt x="1445" y="414528"/>
                </a:cubicBezTo>
                <a:cubicBezTo>
                  <a:pt x="13637" y="530352"/>
                  <a:pt x="105077" y="612648"/>
                  <a:pt x="196517" y="694944"/>
                </a:cubicBezTo>
              </a:path>
            </a:pathLst>
          </a:custGeom>
          <a:noFill/>
          <a:ln w="12700">
            <a:solidFill>
              <a:schemeClr val="bg2">
                <a:lumMod val="90000"/>
              </a:schemeClr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3F0F57-36E2-34EC-B0A3-4668001CD72C}"/>
              </a:ext>
            </a:extLst>
          </p:cNvPr>
          <p:cNvSpPr/>
          <p:nvPr/>
        </p:nvSpPr>
        <p:spPr>
          <a:xfrm>
            <a:off x="1039033" y="2198267"/>
            <a:ext cx="1714034" cy="699888"/>
          </a:xfrm>
          <a:prstGeom prst="roundRect">
            <a:avLst>
              <a:gd name="adj" fmla="val 50000"/>
            </a:avLst>
          </a:prstGeom>
          <a:solidFill>
            <a:srgbClr val="EBE7EF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 b="1"/>
          </a:p>
        </p:txBody>
      </p:sp>
      <p:pic>
        <p:nvPicPr>
          <p:cNvPr id="27" name="Graphic 26" descr="Pencil with solid fill">
            <a:extLst>
              <a:ext uri="{FF2B5EF4-FFF2-40B4-BE49-F238E27FC236}">
                <a16:creationId xmlns:a16="http://schemas.microsoft.com/office/drawing/2014/main" id="{40B78060-59E4-AC75-D42E-D2FC43569F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89014" y="2309662"/>
            <a:ext cx="478559" cy="47709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64A4CF6-A2DE-5AA1-8069-E51C9E7DD206}"/>
              </a:ext>
            </a:extLst>
          </p:cNvPr>
          <p:cNvSpPr txBox="1"/>
          <p:nvPr/>
        </p:nvSpPr>
        <p:spPr>
          <a:xfrm>
            <a:off x="1817557" y="2361105"/>
            <a:ext cx="73816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20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BE6E63D-F669-6DC8-6C5E-C332B732D8C2}"/>
              </a:ext>
            </a:extLst>
          </p:cNvPr>
          <p:cNvSpPr/>
          <p:nvPr/>
        </p:nvSpPr>
        <p:spPr>
          <a:xfrm>
            <a:off x="4501378" y="2198267"/>
            <a:ext cx="2256937" cy="699888"/>
          </a:xfrm>
          <a:prstGeom prst="roundRect">
            <a:avLst>
              <a:gd name="adj" fmla="val 50000"/>
            </a:avLst>
          </a:prstGeom>
          <a:solidFill>
            <a:srgbClr val="F7EEEC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pic>
        <p:nvPicPr>
          <p:cNvPr id="30" name="Graphic 29" descr="Pencil with solid fill">
            <a:extLst>
              <a:ext uri="{FF2B5EF4-FFF2-40B4-BE49-F238E27FC236}">
                <a16:creationId xmlns:a16="http://schemas.microsoft.com/office/drawing/2014/main" id="{31E5999A-92C8-1AC3-D29B-DDD9B2EFDD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51360" y="2309662"/>
            <a:ext cx="478559" cy="47709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8D5D22D-0290-A0D0-5F76-FC76473498D0}"/>
              </a:ext>
            </a:extLst>
          </p:cNvPr>
          <p:cNvSpPr txBox="1"/>
          <p:nvPr/>
        </p:nvSpPr>
        <p:spPr>
          <a:xfrm>
            <a:off x="5202055" y="2377006"/>
            <a:ext cx="130070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2000" b="1" dirty="0">
                <a:solidFill>
                  <a:srgbClr val="BA77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71FD7DC-7411-BDE7-7189-BCADD253ED2E}"/>
              </a:ext>
            </a:extLst>
          </p:cNvPr>
          <p:cNvSpPr/>
          <p:nvPr/>
        </p:nvSpPr>
        <p:spPr>
          <a:xfrm>
            <a:off x="8776860" y="2198267"/>
            <a:ext cx="1720673" cy="699888"/>
          </a:xfrm>
          <a:prstGeom prst="roundRect">
            <a:avLst>
              <a:gd name="adj" fmla="val 50000"/>
            </a:avLst>
          </a:prstGeom>
          <a:solidFill>
            <a:srgbClr val="F2E7FE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000"/>
          </a:p>
        </p:txBody>
      </p:sp>
      <p:pic>
        <p:nvPicPr>
          <p:cNvPr id="33" name="Graphic 32" descr="Pencil with solid fill">
            <a:extLst>
              <a:ext uri="{FF2B5EF4-FFF2-40B4-BE49-F238E27FC236}">
                <a16:creationId xmlns:a16="http://schemas.microsoft.com/office/drawing/2014/main" id="{0B61F7D9-A5EC-45C7-57A2-A0AED295BA4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26842" y="2309662"/>
            <a:ext cx="478559" cy="47709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33C002B-1131-D941-6FFE-375E65C2CF55}"/>
              </a:ext>
            </a:extLst>
          </p:cNvPr>
          <p:cNvSpPr txBox="1"/>
          <p:nvPr/>
        </p:nvSpPr>
        <p:spPr>
          <a:xfrm>
            <a:off x="9545719" y="2387209"/>
            <a:ext cx="7964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2000" b="1" dirty="0">
                <a:solidFill>
                  <a:srgbClr val="973B8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11D7D1CE-BBCC-13F5-B090-3E0129316F29}"/>
              </a:ext>
            </a:extLst>
          </p:cNvPr>
          <p:cNvSpPr txBox="1">
            <a:spLocks/>
          </p:cNvSpPr>
          <p:nvPr/>
        </p:nvSpPr>
        <p:spPr>
          <a:xfrm>
            <a:off x="569050" y="365125"/>
            <a:ext cx="11327860" cy="708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sz="2800" dirty="0">
                <a:latin typeface="Arial" panose="020B0604020202020204" pitchFamily="34" charset="0"/>
                <a:cs typeface="Arial" panose="020B0604020202020204" pitchFamily="34" charset="0"/>
              </a:rPr>
              <a:t>a) Executable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Tracing</a:t>
            </a:r>
            <a:endParaRPr lang="en-CH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7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2627-F164-0933-F337-F84C7206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B4AA91D3-77ED-D138-E269-DA8CCF71C6FA}"/>
              </a:ext>
            </a:extLst>
          </p:cNvPr>
          <p:cNvSpPr/>
          <p:nvPr/>
        </p:nvSpPr>
        <p:spPr>
          <a:xfrm>
            <a:off x="6215794" y="1125720"/>
            <a:ext cx="4827252" cy="515391"/>
          </a:xfrm>
          <a:prstGeom prst="roundRect">
            <a:avLst>
              <a:gd name="adj" fmla="val 3303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  <a:effectLst>
            <a:outerShdw blurRad="50800" dist="50800" dir="5400000" algn="ctr" rotWithShape="0">
              <a:srgbClr val="FEFAF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890B5F5A-BB1B-07F6-60BE-857920828606}"/>
              </a:ext>
            </a:extLst>
          </p:cNvPr>
          <p:cNvSpPr/>
          <p:nvPr/>
        </p:nvSpPr>
        <p:spPr>
          <a:xfrm>
            <a:off x="1148565" y="1144461"/>
            <a:ext cx="4827252" cy="515391"/>
          </a:xfrm>
          <a:prstGeom prst="roundRect">
            <a:avLst>
              <a:gd name="adj" fmla="val 25758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  <a:effectLst>
            <a:outerShdw blurRad="50800" dist="50800" dir="5400000" algn="ctr" rotWithShape="0">
              <a:srgbClr val="FEFAF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B572B3B1-639E-8E94-EBAB-00F48A6EE7FC}"/>
              </a:ext>
            </a:extLst>
          </p:cNvPr>
          <p:cNvSpPr/>
          <p:nvPr/>
        </p:nvSpPr>
        <p:spPr>
          <a:xfrm>
            <a:off x="2562999" y="2069812"/>
            <a:ext cx="2959080" cy="390040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rgbClr val="E0C39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F5A629B2-1EA5-2135-834B-FB9C716CE490}"/>
              </a:ext>
            </a:extLst>
          </p:cNvPr>
          <p:cNvSpPr/>
          <p:nvPr/>
        </p:nvSpPr>
        <p:spPr>
          <a:xfrm>
            <a:off x="2562999" y="2854328"/>
            <a:ext cx="2959080" cy="389233"/>
          </a:xfrm>
          <a:prstGeom prst="roundRect">
            <a:avLst>
              <a:gd name="adj" fmla="val 37122"/>
            </a:avLst>
          </a:prstGeom>
          <a:solidFill>
            <a:srgbClr val="FBF5FF">
              <a:alpha val="50163"/>
            </a:srgbClr>
          </a:solidFill>
          <a:ln>
            <a:solidFill>
              <a:srgbClr val="EDDAFF">
                <a:alpha val="4975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2AC2EB2-59FE-61ED-B2FE-08F0289200B3}"/>
              </a:ext>
            </a:extLst>
          </p:cNvPr>
          <p:cNvSpPr/>
          <p:nvPr/>
        </p:nvSpPr>
        <p:spPr>
          <a:xfrm>
            <a:off x="4370346" y="2150713"/>
            <a:ext cx="486182" cy="245716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1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B80A93-2D7C-DCF5-E0F4-E427A763B1C1}"/>
              </a:ext>
            </a:extLst>
          </p:cNvPr>
          <p:cNvSpPr txBox="1"/>
          <p:nvPr/>
        </p:nvSpPr>
        <p:spPr>
          <a:xfrm>
            <a:off x="2562999" y="2127709"/>
            <a:ext cx="2000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s_bigger(3,1)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5884971-0E46-69D7-1547-8AD5D111A395}"/>
              </a:ext>
            </a:extLst>
          </p:cNvPr>
          <p:cNvSpPr/>
          <p:nvPr/>
        </p:nvSpPr>
        <p:spPr>
          <a:xfrm>
            <a:off x="4920463" y="2150713"/>
            <a:ext cx="486182" cy="227167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100" b="1" dirty="0">
                <a:solidFill>
                  <a:srgbClr val="6C72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0CE1FD-E2E5-453D-327B-AA83E916CD08}"/>
              </a:ext>
            </a:extLst>
          </p:cNvPr>
          <p:cNvSpPr txBox="1"/>
          <p:nvPr/>
        </p:nvSpPr>
        <p:spPr>
          <a:xfrm>
            <a:off x="2633537" y="2908210"/>
            <a:ext cx="13250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9339E4">
                    <a:alpha val="50399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swap</a:t>
            </a:r>
            <a:r>
              <a:rPr lang="en-CH" sz="1400" b="1" dirty="0">
                <a:solidFill>
                  <a:srgbClr val="9339E4">
                    <a:alpha val="50399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(3,1)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DB369192-C82A-4032-B3D3-C8082B36D389}"/>
              </a:ext>
            </a:extLst>
          </p:cNvPr>
          <p:cNvSpPr/>
          <p:nvPr/>
        </p:nvSpPr>
        <p:spPr>
          <a:xfrm rot="21047185">
            <a:off x="3971821" y="2570662"/>
            <a:ext cx="1288198" cy="471092"/>
          </a:xfrm>
          <a:prstGeom prst="roundRect">
            <a:avLst>
              <a:gd name="adj" fmla="val 28096"/>
            </a:avLst>
          </a:prstGeom>
          <a:solidFill>
            <a:srgbClr val="F9F4FE"/>
          </a:solidFill>
          <a:ln>
            <a:solidFill>
              <a:srgbClr val="752DB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85" name="Graphic 84" descr="Hold Gesture outline">
            <a:extLst>
              <a:ext uri="{FF2B5EF4-FFF2-40B4-BE49-F238E27FC236}">
                <a16:creationId xmlns:a16="http://schemas.microsoft.com/office/drawing/2014/main" id="{65772661-6F0F-2FF5-E177-8BCE65342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4789" y="2963110"/>
            <a:ext cx="564553" cy="55614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822ECD5B-C9B9-412C-E4E7-D5C65BD5A969}"/>
              </a:ext>
            </a:extLst>
          </p:cNvPr>
          <p:cNvSpPr txBox="1"/>
          <p:nvPr/>
        </p:nvSpPr>
        <p:spPr>
          <a:xfrm rot="21029618">
            <a:off x="3964397" y="2643920"/>
            <a:ext cx="13250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swap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(3,1)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1831EA3E-2934-B454-E3FE-76ED45A9A533}"/>
              </a:ext>
            </a:extLst>
          </p:cNvPr>
          <p:cNvSpPr/>
          <p:nvPr/>
        </p:nvSpPr>
        <p:spPr>
          <a:xfrm>
            <a:off x="7823696" y="1826056"/>
            <a:ext cx="3247182" cy="1920164"/>
          </a:xfrm>
          <a:prstGeom prst="roundRect">
            <a:avLst>
              <a:gd name="adj" fmla="val 9363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8246FDEE-DA86-AC3D-CA65-2725A21F54EF}"/>
              </a:ext>
            </a:extLst>
          </p:cNvPr>
          <p:cNvSpPr/>
          <p:nvPr/>
        </p:nvSpPr>
        <p:spPr>
          <a:xfrm>
            <a:off x="8389628" y="2220300"/>
            <a:ext cx="1673249" cy="277670"/>
          </a:xfrm>
          <a:prstGeom prst="roundRect">
            <a:avLst>
              <a:gd name="adj" fmla="val 17595"/>
            </a:avLst>
          </a:prstGeom>
          <a:solidFill>
            <a:srgbClr val="FBF5FF">
              <a:alpha val="50163"/>
            </a:srgbClr>
          </a:solidFill>
          <a:ln>
            <a:solidFill>
              <a:srgbClr val="EDDAFF">
                <a:alpha val="4975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BB428ABF-D106-5779-1A4D-20A82B8AAD1A}"/>
              </a:ext>
            </a:extLst>
          </p:cNvPr>
          <p:cNvSpPr/>
          <p:nvPr/>
        </p:nvSpPr>
        <p:spPr>
          <a:xfrm>
            <a:off x="8259696" y="2723669"/>
            <a:ext cx="372305" cy="227167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1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6C7A13F-2E63-396B-C5FA-519018A5479A}"/>
              </a:ext>
            </a:extLst>
          </p:cNvPr>
          <p:cNvSpPr txBox="1"/>
          <p:nvPr/>
        </p:nvSpPr>
        <p:spPr>
          <a:xfrm>
            <a:off x="7832399" y="1857633"/>
            <a:ext cx="276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ompare_and_swap(3,1)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F0B3E7D-2D45-BFC0-3701-C25F5D8DC0C1}"/>
              </a:ext>
            </a:extLst>
          </p:cNvPr>
          <p:cNvCxnSpPr/>
          <p:nvPr/>
        </p:nvCxnSpPr>
        <p:spPr>
          <a:xfrm>
            <a:off x="7832399" y="2166120"/>
            <a:ext cx="3229779" cy="0"/>
          </a:xfrm>
          <a:prstGeom prst="line">
            <a:avLst/>
          </a:prstGeom>
          <a:ln w="12700">
            <a:solidFill>
              <a:srgbClr val="C4C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A5F326C-3E15-F012-E414-70A686A6D64F}"/>
              </a:ext>
            </a:extLst>
          </p:cNvPr>
          <p:cNvSpPr txBox="1"/>
          <p:nvPr/>
        </p:nvSpPr>
        <p:spPr>
          <a:xfrm>
            <a:off x="7694312" y="2240373"/>
            <a:ext cx="29727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               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CH" sz="1400" b="1" dirty="0">
              <a:solidFill>
                <a:srgbClr val="5048DE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04BADA-D3C2-5554-0F46-7F7BF9DD92D8}"/>
              </a:ext>
            </a:extLst>
          </p:cNvPr>
          <p:cNvSpPr txBox="1"/>
          <p:nvPr/>
        </p:nvSpPr>
        <p:spPr>
          <a:xfrm>
            <a:off x="8389629" y="2225591"/>
            <a:ext cx="1673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s_bigger(3,1)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BD997C06-B6AE-A6EC-F8A0-601A82285896}"/>
              </a:ext>
            </a:extLst>
          </p:cNvPr>
          <p:cNvSpPr/>
          <p:nvPr/>
        </p:nvSpPr>
        <p:spPr>
          <a:xfrm>
            <a:off x="8033721" y="2584478"/>
            <a:ext cx="2915486" cy="1044950"/>
          </a:xfrm>
          <a:prstGeom prst="roundRect">
            <a:avLst>
              <a:gd name="adj" fmla="val 14551"/>
            </a:avLst>
          </a:prstGeom>
          <a:solidFill>
            <a:srgbClr val="E7EDFE"/>
          </a:solidFill>
          <a:ln w="6350">
            <a:solidFill>
              <a:srgbClr val="C7D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A6BA939-585D-4A7D-6F7A-B98DDEF32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070" y="1764468"/>
            <a:ext cx="1240914" cy="2001029"/>
          </a:xfrm>
          <a:prstGeom prst="rect">
            <a:avLst/>
          </a:prstGeom>
        </p:spPr>
      </p:pic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22E2EEA-0C49-952F-0302-20208F2D202F}"/>
              </a:ext>
            </a:extLst>
          </p:cNvPr>
          <p:cNvSpPr/>
          <p:nvPr/>
        </p:nvSpPr>
        <p:spPr>
          <a:xfrm>
            <a:off x="8217942" y="2714899"/>
            <a:ext cx="2550508" cy="371774"/>
          </a:xfrm>
          <a:prstGeom prst="roundRect">
            <a:avLst>
              <a:gd name="adj" fmla="val 32149"/>
            </a:avLst>
          </a:prstGeom>
          <a:solidFill>
            <a:schemeClr val="bg1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CCF4155A-569B-3E17-C67B-EEA6C5F908F7}"/>
              </a:ext>
            </a:extLst>
          </p:cNvPr>
          <p:cNvSpPr/>
          <p:nvPr/>
        </p:nvSpPr>
        <p:spPr>
          <a:xfrm>
            <a:off x="8216208" y="3155871"/>
            <a:ext cx="2550508" cy="371774"/>
          </a:xfrm>
          <a:prstGeom prst="roundRect">
            <a:avLst>
              <a:gd name="adj" fmla="val 32149"/>
            </a:avLst>
          </a:prstGeom>
          <a:solidFill>
            <a:srgbClr val="EFF4FF"/>
          </a:solidFill>
          <a:ln w="6350">
            <a:solidFill>
              <a:srgbClr val="C7D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506D9E13-AE85-3B90-FC62-168EC7F15DC6}"/>
              </a:ext>
            </a:extLst>
          </p:cNvPr>
          <p:cNvSpPr/>
          <p:nvPr/>
        </p:nvSpPr>
        <p:spPr>
          <a:xfrm>
            <a:off x="8350076" y="2785134"/>
            <a:ext cx="453359" cy="232265"/>
          </a:xfrm>
          <a:prstGeom prst="roundRect">
            <a:avLst>
              <a:gd name="adj" fmla="val 32482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1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8A0C88B2-19A5-798E-40AC-10B98B9C1B1B}"/>
              </a:ext>
            </a:extLst>
          </p:cNvPr>
          <p:cNvSpPr/>
          <p:nvPr/>
        </p:nvSpPr>
        <p:spPr>
          <a:xfrm>
            <a:off x="8896572" y="2774426"/>
            <a:ext cx="1283514" cy="245662"/>
          </a:xfrm>
          <a:prstGeom prst="roundRect">
            <a:avLst>
              <a:gd name="adj" fmla="val 37122"/>
            </a:avLst>
          </a:prstGeom>
          <a:solidFill>
            <a:srgbClr val="FBF5FF"/>
          </a:solidFill>
          <a:ln>
            <a:solidFill>
              <a:srgbClr val="EDD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836E519-747B-F2E0-6E14-CAAA289FA179}"/>
              </a:ext>
            </a:extLst>
          </p:cNvPr>
          <p:cNvSpPr txBox="1"/>
          <p:nvPr/>
        </p:nvSpPr>
        <p:spPr>
          <a:xfrm>
            <a:off x="8870524" y="2753948"/>
            <a:ext cx="1376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swap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(3,1)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F4EE5C73-939B-AED2-EBB9-26ACDB59BA7D}"/>
              </a:ext>
            </a:extLst>
          </p:cNvPr>
          <p:cNvSpPr/>
          <p:nvPr/>
        </p:nvSpPr>
        <p:spPr>
          <a:xfrm>
            <a:off x="8332403" y="3237104"/>
            <a:ext cx="486182" cy="227167"/>
          </a:xfrm>
          <a:prstGeom prst="roundRect">
            <a:avLst>
              <a:gd name="adj" fmla="val 32482"/>
            </a:avLst>
          </a:prstGeom>
          <a:solidFill>
            <a:srgbClr val="EFF4FF"/>
          </a:solidFill>
          <a:ln>
            <a:solidFill>
              <a:srgbClr val="E0E5E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100" b="1" dirty="0">
                <a:solidFill>
                  <a:srgbClr val="6C7280">
                    <a:alpha val="49777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36AB384-0949-69DC-C980-D6A04257FC0C}"/>
              </a:ext>
            </a:extLst>
          </p:cNvPr>
          <p:cNvSpPr txBox="1"/>
          <p:nvPr/>
        </p:nvSpPr>
        <p:spPr>
          <a:xfrm>
            <a:off x="8875336" y="3210736"/>
            <a:ext cx="15516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C0C5D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 nothing</a:t>
            </a:r>
            <a:endParaRPr lang="en-CH" sz="1400" b="1" dirty="0">
              <a:solidFill>
                <a:srgbClr val="C0C5D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BA9434B-3D06-B60D-BBE2-2970CBAE3D5F}"/>
              </a:ext>
            </a:extLst>
          </p:cNvPr>
          <p:cNvSpPr/>
          <p:nvPr/>
        </p:nvSpPr>
        <p:spPr>
          <a:xfrm>
            <a:off x="10626630" y="1886801"/>
            <a:ext cx="313875" cy="215605"/>
          </a:xfrm>
          <a:prstGeom prst="ellipse">
            <a:avLst/>
          </a:prstGeom>
          <a:solidFill>
            <a:schemeClr val="bg1"/>
          </a:solidFill>
          <a:ln w="12700">
            <a:solidFill>
              <a:srgbClr val="D4E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94568" rtlCol="0" anchor="ctr"/>
          <a:lstStyle/>
          <a:p>
            <a:pPr algn="ctr"/>
            <a:r>
              <a:rPr lang="en-CH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^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74F8C133-3C51-C1B4-BD4F-5F21881CD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775" y="1794562"/>
            <a:ext cx="1349621" cy="1712616"/>
          </a:xfrm>
          <a:prstGeom prst="rect">
            <a:avLst/>
          </a:prstGeom>
        </p:spPr>
      </p:pic>
      <p:sp>
        <p:nvSpPr>
          <p:cNvPr id="105" name="Right Arrow 104">
            <a:extLst>
              <a:ext uri="{FF2B5EF4-FFF2-40B4-BE49-F238E27FC236}">
                <a16:creationId xmlns:a16="http://schemas.microsoft.com/office/drawing/2014/main" id="{7FDED68E-0162-1E4D-DAEF-DBB16991C840}"/>
              </a:ext>
            </a:extLst>
          </p:cNvPr>
          <p:cNvSpPr/>
          <p:nvPr/>
        </p:nvSpPr>
        <p:spPr>
          <a:xfrm>
            <a:off x="5601876" y="2493852"/>
            <a:ext cx="332694" cy="23593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E19ED8D-14CA-9714-07A9-6A2238B95EA4}"/>
              </a:ext>
            </a:extLst>
          </p:cNvPr>
          <p:cNvSpPr/>
          <p:nvPr/>
        </p:nvSpPr>
        <p:spPr>
          <a:xfrm>
            <a:off x="2606961" y="1203288"/>
            <a:ext cx="1658374" cy="3717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7" name="Graphic 106" descr="Pencil with solid fill">
            <a:extLst>
              <a:ext uri="{FF2B5EF4-FFF2-40B4-BE49-F238E27FC236}">
                <a16:creationId xmlns:a16="http://schemas.microsoft.com/office/drawing/2014/main" id="{644B37BF-8771-91DC-B5C6-8F8A7D60DD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17165" y="1266945"/>
            <a:ext cx="351642" cy="253436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2BE88DBB-FC2B-9AB4-150C-A414115768D6}"/>
              </a:ext>
            </a:extLst>
          </p:cNvPr>
          <p:cNvSpPr txBox="1"/>
          <p:nvPr/>
        </p:nvSpPr>
        <p:spPr>
          <a:xfrm>
            <a:off x="3121811" y="1277318"/>
            <a:ext cx="9557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600" b="1" dirty="0">
                <a:solidFill>
                  <a:srgbClr val="BA77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3E4D0864-5A17-D2E0-D317-72B9C92A4E3E}"/>
              </a:ext>
            </a:extLst>
          </p:cNvPr>
          <p:cNvSpPr/>
          <p:nvPr/>
        </p:nvSpPr>
        <p:spPr>
          <a:xfrm>
            <a:off x="4490723" y="1203288"/>
            <a:ext cx="1264333" cy="3717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0" name="Graphic 109" descr="Pencil with solid fill">
            <a:extLst>
              <a:ext uri="{FF2B5EF4-FFF2-40B4-BE49-F238E27FC236}">
                <a16:creationId xmlns:a16="http://schemas.microsoft.com/office/drawing/2014/main" id="{FB320AA1-DA30-2A30-A959-DF7A6A9CE4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0929" y="1266945"/>
            <a:ext cx="351642" cy="253436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1EC202BD-EAC8-6A17-0B17-7BC0527A4D53}"/>
              </a:ext>
            </a:extLst>
          </p:cNvPr>
          <p:cNvSpPr txBox="1"/>
          <p:nvPr/>
        </p:nvSpPr>
        <p:spPr>
          <a:xfrm>
            <a:off x="5055672" y="1283148"/>
            <a:ext cx="5852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600" b="1" dirty="0">
                <a:solidFill>
                  <a:srgbClr val="973B8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FD6A92B-3E03-1B96-CC9C-4BF6BD652BBF}"/>
              </a:ext>
            </a:extLst>
          </p:cNvPr>
          <p:cNvSpPr/>
          <p:nvPr/>
        </p:nvSpPr>
        <p:spPr>
          <a:xfrm>
            <a:off x="8236199" y="1219123"/>
            <a:ext cx="2430887" cy="3717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3" name="Graphic 112" descr="Pencil with solid fill">
            <a:extLst>
              <a:ext uri="{FF2B5EF4-FFF2-40B4-BE49-F238E27FC236}">
                <a16:creationId xmlns:a16="http://schemas.microsoft.com/office/drawing/2014/main" id="{6777EE41-D9CB-67E6-6FF5-EB8BC235D8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46407" y="1282782"/>
            <a:ext cx="351642" cy="253436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DCA2EC89-9ED6-00BE-7C17-5D1AEAF90E2D}"/>
              </a:ext>
            </a:extLst>
          </p:cNvPr>
          <p:cNvSpPr txBox="1"/>
          <p:nvPr/>
        </p:nvSpPr>
        <p:spPr>
          <a:xfrm>
            <a:off x="8751052" y="1293153"/>
            <a:ext cx="184582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600" b="1" dirty="0">
                <a:solidFill>
                  <a:srgbClr val="6466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&amp; Swap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8F6CD6-5C35-85A2-74C0-5E5864D75C25}"/>
              </a:ext>
            </a:extLst>
          </p:cNvPr>
          <p:cNvSpPr txBox="1"/>
          <p:nvPr/>
        </p:nvSpPr>
        <p:spPr>
          <a:xfrm>
            <a:off x="1121121" y="1228794"/>
            <a:ext cx="1346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PRIMITIVES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5BCEC50-E268-4386-CE9B-854127ACE5B4}"/>
              </a:ext>
            </a:extLst>
          </p:cNvPr>
          <p:cNvSpPr txBox="1"/>
          <p:nvPr/>
        </p:nvSpPr>
        <p:spPr>
          <a:xfrm>
            <a:off x="6234928" y="1218125"/>
            <a:ext cx="1782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CREATED</a:t>
            </a: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7A9404C5-464B-A70C-A386-E9DE10E523DB}"/>
              </a:ext>
            </a:extLst>
          </p:cNvPr>
          <p:cNvSpPr txBox="1">
            <a:spLocks/>
          </p:cNvSpPr>
          <p:nvPr/>
        </p:nvSpPr>
        <p:spPr>
          <a:xfrm>
            <a:off x="569050" y="365125"/>
            <a:ext cx="11327860" cy="708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sz="2800" dirty="0">
                <a:latin typeface="Arial" panose="020B0604020202020204" pitchFamily="34" charset="0"/>
                <a:cs typeface="Arial" panose="020B0604020202020204" pitchFamily="34" charset="0"/>
              </a:rPr>
              <a:t>b) Reusable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Pens</a:t>
            </a:r>
            <a:endParaRPr lang="en-CH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7CDBE086-8B18-2F80-B8D7-20762761A5E2}"/>
              </a:ext>
            </a:extLst>
          </p:cNvPr>
          <p:cNvSpPr/>
          <p:nvPr/>
        </p:nvSpPr>
        <p:spPr>
          <a:xfrm>
            <a:off x="5715287" y="3945587"/>
            <a:ext cx="5492570" cy="556142"/>
          </a:xfrm>
          <a:prstGeom prst="roundRect">
            <a:avLst>
              <a:gd name="adj" fmla="val 3303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  <a:effectLst>
            <a:outerShdw blurRad="50800" dist="50800" dir="5400000" algn="ctr" rotWithShape="0">
              <a:srgbClr val="FEFAF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/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FCC70DAE-72DD-5F29-0A87-0FADE8439C06}"/>
              </a:ext>
            </a:extLst>
          </p:cNvPr>
          <p:cNvSpPr/>
          <p:nvPr/>
        </p:nvSpPr>
        <p:spPr>
          <a:xfrm>
            <a:off x="2588379" y="4925389"/>
            <a:ext cx="2714044" cy="416143"/>
          </a:xfrm>
          <a:prstGeom prst="roundRect">
            <a:avLst>
              <a:gd name="adj" fmla="val 3248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E08D7F52-7CA0-A89C-79DE-220D690C4FB5}"/>
              </a:ext>
            </a:extLst>
          </p:cNvPr>
          <p:cNvSpPr/>
          <p:nvPr/>
        </p:nvSpPr>
        <p:spPr>
          <a:xfrm>
            <a:off x="2588378" y="5762408"/>
            <a:ext cx="2738444" cy="415282"/>
          </a:xfrm>
          <a:prstGeom prst="roundRect">
            <a:avLst>
              <a:gd name="adj" fmla="val 37122"/>
            </a:avLst>
          </a:prstGeom>
          <a:solidFill>
            <a:srgbClr val="EFF6FE">
              <a:alpha val="22000"/>
            </a:srgbClr>
          </a:solidFill>
          <a:ln>
            <a:solidFill>
              <a:srgbClr val="C5CCFC">
                <a:alpha val="2285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427B7D1-8EDC-DCCA-11A4-873C9EE45699}"/>
              </a:ext>
            </a:extLst>
          </p:cNvPr>
          <p:cNvSpPr txBox="1"/>
          <p:nvPr/>
        </p:nvSpPr>
        <p:spPr>
          <a:xfrm>
            <a:off x="2588377" y="4987160"/>
            <a:ext cx="2781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ompare_and_swap(3,1)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FCD7265-571D-53D7-2001-2F629E655D29}"/>
              </a:ext>
            </a:extLst>
          </p:cNvPr>
          <p:cNvSpPr txBox="1"/>
          <p:nvPr/>
        </p:nvSpPr>
        <p:spPr>
          <a:xfrm>
            <a:off x="2658316" y="5819895"/>
            <a:ext cx="2781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ompare_and_swap(3,</a:t>
            </a:r>
            <a:r>
              <a:rPr lang="en-US" altLang="zh-CN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32D30FF9-FFB3-8CEB-CB2D-3D68F726D374}"/>
              </a:ext>
            </a:extLst>
          </p:cNvPr>
          <p:cNvSpPr/>
          <p:nvPr/>
        </p:nvSpPr>
        <p:spPr>
          <a:xfrm rot="21047185">
            <a:off x="3994684" y="5336910"/>
            <a:ext cx="1277228" cy="840652"/>
          </a:xfrm>
          <a:prstGeom prst="roundRect">
            <a:avLst>
              <a:gd name="adj" fmla="val 28096"/>
            </a:avLst>
          </a:prstGeom>
          <a:solidFill>
            <a:srgbClr val="EFF6FE"/>
          </a:solidFill>
          <a:ln>
            <a:solidFill>
              <a:srgbClr val="6466F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126" name="Graphic 125" descr="Hold Gesture outline">
            <a:extLst>
              <a:ext uri="{FF2B5EF4-FFF2-40B4-BE49-F238E27FC236}">
                <a16:creationId xmlns:a16="http://schemas.microsoft.com/office/drawing/2014/main" id="{AB39721C-C3AA-1807-6CE4-99EFB0E48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6380" y="5979928"/>
            <a:ext cx="559746" cy="595522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43BF3107-A576-C90C-9E90-BDD96DB3785E}"/>
              </a:ext>
            </a:extLst>
          </p:cNvPr>
          <p:cNvSpPr txBox="1"/>
          <p:nvPr/>
        </p:nvSpPr>
        <p:spPr>
          <a:xfrm rot="21029618">
            <a:off x="4009219" y="5384287"/>
            <a:ext cx="12239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</a:t>
            </a:r>
          </a:p>
          <a:p>
            <a:pPr algn="ctr"/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(3,2)</a:t>
            </a: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7FFCD5E1-2106-ACC9-8CB5-F723EB315E4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820844" y="4597065"/>
            <a:ext cx="1252503" cy="2134947"/>
          </a:xfrm>
          <a:prstGeom prst="rect">
            <a:avLst/>
          </a:prstGeom>
        </p:spPr>
      </p:pic>
      <p:sp>
        <p:nvSpPr>
          <p:cNvPr id="129" name="Right Arrow 128">
            <a:extLst>
              <a:ext uri="{FF2B5EF4-FFF2-40B4-BE49-F238E27FC236}">
                <a16:creationId xmlns:a16="http://schemas.microsoft.com/office/drawing/2014/main" id="{0A3100E7-6FF3-433F-A4D6-BA943DC94263}"/>
              </a:ext>
            </a:extLst>
          </p:cNvPr>
          <p:cNvSpPr/>
          <p:nvPr/>
        </p:nvSpPr>
        <p:spPr>
          <a:xfrm>
            <a:off x="5349890" y="5377615"/>
            <a:ext cx="329861" cy="251728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5A8BA7C9-EAE2-8AB7-8EAD-68DAC8139E29}"/>
              </a:ext>
            </a:extLst>
          </p:cNvPr>
          <p:cNvSpPr/>
          <p:nvPr/>
        </p:nvSpPr>
        <p:spPr>
          <a:xfrm>
            <a:off x="7718490" y="4042880"/>
            <a:ext cx="1830106" cy="3966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" name="Graphic 130" descr="Pencil with solid fill">
            <a:extLst>
              <a:ext uri="{FF2B5EF4-FFF2-40B4-BE49-F238E27FC236}">
                <a16:creationId xmlns:a16="http://schemas.microsoft.com/office/drawing/2014/main" id="{83A2EBFD-62A8-278A-6F78-00C7CAB1B13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27758" y="4091136"/>
            <a:ext cx="348647" cy="270397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5EB389C6-9631-6057-0901-A662FBCBC0FE}"/>
              </a:ext>
            </a:extLst>
          </p:cNvPr>
          <p:cNvSpPr txBox="1"/>
          <p:nvPr/>
        </p:nvSpPr>
        <p:spPr>
          <a:xfrm>
            <a:off x="8232772" y="4130776"/>
            <a:ext cx="183010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600" b="1" dirty="0">
                <a:solidFill>
                  <a:srgbClr val="308C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up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53A7560-D45E-9707-D81D-CCE8DD5064C6}"/>
              </a:ext>
            </a:extLst>
          </p:cNvPr>
          <p:cNvSpPr txBox="1"/>
          <p:nvPr/>
        </p:nvSpPr>
        <p:spPr>
          <a:xfrm>
            <a:off x="5769011" y="4057269"/>
            <a:ext cx="1782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CREATED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EB8AF811-2D3A-3314-479A-A49E9724875D}"/>
              </a:ext>
            </a:extLst>
          </p:cNvPr>
          <p:cNvSpPr/>
          <p:nvPr/>
        </p:nvSpPr>
        <p:spPr>
          <a:xfrm>
            <a:off x="1294392" y="3948593"/>
            <a:ext cx="4032430" cy="549883"/>
          </a:xfrm>
          <a:prstGeom prst="roundRect">
            <a:avLst>
              <a:gd name="adj" fmla="val 3303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  <a:effectLst>
            <a:outerShdw blurRad="50800" dist="50800" dir="5400000" algn="ctr" rotWithShape="0">
              <a:srgbClr val="FEFAF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2076135B-998B-65E5-877E-877E3E82D159}"/>
              </a:ext>
            </a:extLst>
          </p:cNvPr>
          <p:cNvSpPr/>
          <p:nvPr/>
        </p:nvSpPr>
        <p:spPr>
          <a:xfrm>
            <a:off x="3055296" y="4047181"/>
            <a:ext cx="2271527" cy="3966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E2D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6" name="Graphic 135" descr="Pencil with solid fill">
            <a:extLst>
              <a:ext uri="{FF2B5EF4-FFF2-40B4-BE49-F238E27FC236}">
                <a16:creationId xmlns:a16="http://schemas.microsoft.com/office/drawing/2014/main" id="{8467FD8B-85B2-9161-EF9F-3A5F8D0537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64566" y="4115100"/>
            <a:ext cx="328588" cy="270397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40061AA8-4E94-EFDD-35E2-BBA6C079E664}"/>
              </a:ext>
            </a:extLst>
          </p:cNvPr>
          <p:cNvSpPr txBox="1"/>
          <p:nvPr/>
        </p:nvSpPr>
        <p:spPr>
          <a:xfrm>
            <a:off x="3529907" y="4126164"/>
            <a:ext cx="172481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H" sz="1600" b="1" dirty="0">
                <a:solidFill>
                  <a:srgbClr val="6466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&amp; Swap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12EC973-AB6A-6941-80D0-648ECDED8A35}"/>
              </a:ext>
            </a:extLst>
          </p:cNvPr>
          <p:cNvSpPr txBox="1"/>
          <p:nvPr/>
        </p:nvSpPr>
        <p:spPr>
          <a:xfrm>
            <a:off x="1313363" y="4047181"/>
            <a:ext cx="1782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CREATED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51F7268F-2808-9A29-87D7-EF87314A3A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58102" y="4597065"/>
            <a:ext cx="1307767" cy="1894004"/>
          </a:xfrm>
          <a:prstGeom prst="rect">
            <a:avLst/>
          </a:prstGeom>
        </p:spPr>
      </p:pic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66534C17-1043-04D7-1FEE-5DF172C9D570}"/>
              </a:ext>
            </a:extLst>
          </p:cNvPr>
          <p:cNvSpPr/>
          <p:nvPr/>
        </p:nvSpPr>
        <p:spPr>
          <a:xfrm>
            <a:off x="7257879" y="4640201"/>
            <a:ext cx="3949979" cy="2048671"/>
          </a:xfrm>
          <a:prstGeom prst="roundRect">
            <a:avLst>
              <a:gd name="adj" fmla="val 9363"/>
            </a:avLst>
          </a:prstGeom>
          <a:solidFill>
            <a:srgbClr val="EDFEF7"/>
          </a:solidFill>
          <a:ln>
            <a:solidFill>
              <a:srgbClr val="A1F3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F9EC9556-0D79-2731-796E-651684ED84E4}"/>
              </a:ext>
            </a:extLst>
          </p:cNvPr>
          <p:cNvSpPr/>
          <p:nvPr/>
        </p:nvSpPr>
        <p:spPr>
          <a:xfrm>
            <a:off x="7534017" y="5570085"/>
            <a:ext cx="509724" cy="242370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1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DC2F59B-FF03-95CE-9AAB-D8C12560A880}"/>
              </a:ext>
            </a:extLst>
          </p:cNvPr>
          <p:cNvSpPr txBox="1"/>
          <p:nvPr/>
        </p:nvSpPr>
        <p:spPr>
          <a:xfrm>
            <a:off x="7149713" y="4676832"/>
            <a:ext cx="2766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bubble_up</a:t>
            </a:r>
            <a:r>
              <a:rPr lang="en-CH" sz="1400" b="1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([3,1,2])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FDE9EEF-6FDC-1723-0522-FB7B8EAA74F5}"/>
              </a:ext>
            </a:extLst>
          </p:cNvPr>
          <p:cNvCxnSpPr>
            <a:cxnSpLocks/>
          </p:cNvCxnSpPr>
          <p:nvPr/>
        </p:nvCxnSpPr>
        <p:spPr>
          <a:xfrm>
            <a:off x="7257879" y="4984081"/>
            <a:ext cx="3949979" cy="0"/>
          </a:xfrm>
          <a:prstGeom prst="line">
            <a:avLst/>
          </a:prstGeom>
          <a:ln w="12700">
            <a:solidFill>
              <a:srgbClr val="A1F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0F268089-7C91-5CA1-43D4-E35E17F1BEE9}"/>
              </a:ext>
            </a:extLst>
          </p:cNvPr>
          <p:cNvSpPr txBox="1"/>
          <p:nvPr/>
        </p:nvSpPr>
        <p:spPr>
          <a:xfrm>
            <a:off x="7340675" y="5085506"/>
            <a:ext cx="2159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sz="1400" b="1" dirty="0" err="1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0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</a:t>
            </a: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1 </a:t>
            </a:r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lang="en-CH" sz="1400" b="1" dirty="0">
              <a:solidFill>
                <a:srgbClr val="5048DE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10A62AFF-8C6C-794C-5684-365CEE8A2A83}"/>
              </a:ext>
            </a:extLst>
          </p:cNvPr>
          <p:cNvSpPr/>
          <p:nvPr/>
        </p:nvSpPr>
        <p:spPr>
          <a:xfrm>
            <a:off x="7431120" y="5428817"/>
            <a:ext cx="3638927" cy="1114883"/>
          </a:xfrm>
          <a:prstGeom prst="roundRect">
            <a:avLst>
              <a:gd name="adj" fmla="val 14551"/>
            </a:avLst>
          </a:prstGeom>
          <a:solidFill>
            <a:srgbClr val="DFFDEE"/>
          </a:solidFill>
          <a:ln w="6350">
            <a:solidFill>
              <a:srgbClr val="A3F3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4C6F436A-87C8-069F-7F71-CBF8B6A32DC4}"/>
              </a:ext>
            </a:extLst>
          </p:cNvPr>
          <p:cNvSpPr/>
          <p:nvPr/>
        </p:nvSpPr>
        <p:spPr>
          <a:xfrm>
            <a:off x="7543950" y="5560728"/>
            <a:ext cx="3401957" cy="396655"/>
          </a:xfrm>
          <a:prstGeom prst="roundRect">
            <a:avLst>
              <a:gd name="adj" fmla="val 32149"/>
            </a:avLst>
          </a:prstGeom>
          <a:solidFill>
            <a:srgbClr val="F2FFF8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B728D071-97E6-5627-C162-0D16956580D4}"/>
              </a:ext>
            </a:extLst>
          </p:cNvPr>
          <p:cNvSpPr/>
          <p:nvPr/>
        </p:nvSpPr>
        <p:spPr>
          <a:xfrm>
            <a:off x="7657755" y="5635663"/>
            <a:ext cx="509724" cy="242370"/>
          </a:xfrm>
          <a:prstGeom prst="roundRect">
            <a:avLst>
              <a:gd name="adj" fmla="val 32482"/>
            </a:avLst>
          </a:prstGeom>
          <a:solidFill>
            <a:srgbClr val="D1FBE6"/>
          </a:solidFill>
          <a:ln>
            <a:solidFill>
              <a:srgbClr val="D1F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1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i=0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295905CE-2088-361A-50E4-D56D09165B20}"/>
              </a:ext>
            </a:extLst>
          </p:cNvPr>
          <p:cNvSpPr/>
          <p:nvPr/>
        </p:nvSpPr>
        <p:spPr>
          <a:xfrm>
            <a:off x="8257243" y="5624238"/>
            <a:ext cx="2564314" cy="253795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03DC626-2AA9-DD20-39A5-BDCD0D7C2A92}"/>
              </a:ext>
            </a:extLst>
          </p:cNvPr>
          <p:cNvSpPr/>
          <p:nvPr/>
        </p:nvSpPr>
        <p:spPr>
          <a:xfrm>
            <a:off x="10669026" y="4685229"/>
            <a:ext cx="305061" cy="259286"/>
          </a:xfrm>
          <a:prstGeom prst="ellipse">
            <a:avLst/>
          </a:prstGeom>
          <a:solidFill>
            <a:schemeClr val="bg1"/>
          </a:solidFill>
          <a:ln w="12700">
            <a:solidFill>
              <a:srgbClr val="D4E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94568" rtlCol="0" anchor="ctr"/>
          <a:lstStyle/>
          <a:p>
            <a:pPr algn="ctr"/>
            <a:r>
              <a:rPr lang="en-CH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^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C436891-61E6-F5B0-8746-8F317B8702D6}"/>
              </a:ext>
            </a:extLst>
          </p:cNvPr>
          <p:cNvSpPr txBox="1"/>
          <p:nvPr/>
        </p:nvSpPr>
        <p:spPr>
          <a:xfrm>
            <a:off x="8176405" y="5599838"/>
            <a:ext cx="2787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ompare_and_swap(3,1)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422FA9CA-49BA-1E54-3807-0CF0D4B264B3}"/>
              </a:ext>
            </a:extLst>
          </p:cNvPr>
          <p:cNvSpPr/>
          <p:nvPr/>
        </p:nvSpPr>
        <p:spPr>
          <a:xfrm>
            <a:off x="7551448" y="6024370"/>
            <a:ext cx="3401957" cy="396655"/>
          </a:xfrm>
          <a:prstGeom prst="roundRect">
            <a:avLst>
              <a:gd name="adj" fmla="val 32149"/>
            </a:avLst>
          </a:prstGeom>
          <a:solidFill>
            <a:srgbClr val="F2FFF8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A56705FF-53F6-F796-5D4D-C2E5C09EC679}"/>
              </a:ext>
            </a:extLst>
          </p:cNvPr>
          <p:cNvSpPr/>
          <p:nvPr/>
        </p:nvSpPr>
        <p:spPr>
          <a:xfrm>
            <a:off x="7665254" y="6099304"/>
            <a:ext cx="509724" cy="242370"/>
          </a:xfrm>
          <a:prstGeom prst="roundRect">
            <a:avLst>
              <a:gd name="adj" fmla="val 32482"/>
            </a:avLst>
          </a:prstGeom>
          <a:solidFill>
            <a:srgbClr val="D1FBE6"/>
          </a:solidFill>
          <a:ln>
            <a:solidFill>
              <a:srgbClr val="D1F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1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i=1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7AFC8D30-079B-6DEB-6DF2-7D4DD72928C9}"/>
              </a:ext>
            </a:extLst>
          </p:cNvPr>
          <p:cNvSpPr/>
          <p:nvPr/>
        </p:nvSpPr>
        <p:spPr>
          <a:xfrm>
            <a:off x="8264740" y="6087880"/>
            <a:ext cx="2564314" cy="253795"/>
          </a:xfrm>
          <a:prstGeom prst="roundRect">
            <a:avLst>
              <a:gd name="adj" fmla="val 37122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EC49EB3-E77F-55BB-A927-2E30E68FC0A4}"/>
              </a:ext>
            </a:extLst>
          </p:cNvPr>
          <p:cNvSpPr txBox="1"/>
          <p:nvPr/>
        </p:nvSpPr>
        <p:spPr>
          <a:xfrm>
            <a:off x="8183903" y="6063480"/>
            <a:ext cx="2787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ompare_and_swap(3,2)</a:t>
            </a:r>
          </a:p>
        </p:txBody>
      </p:sp>
    </p:spTree>
    <p:extLst>
      <p:ext uri="{BB962C8B-B14F-4D97-AF65-F5344CB8AC3E}">
        <p14:creationId xmlns:p14="http://schemas.microsoft.com/office/powerpoint/2010/main" val="428925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4" grpId="0" animBg="1"/>
      <p:bldP spid="86" grpId="0"/>
      <p:bldP spid="87" grpId="0" animBg="1"/>
      <p:bldP spid="88" grpId="0" animBg="1"/>
      <p:bldP spid="89" grpId="0" animBg="1"/>
      <p:bldP spid="90" grpId="0"/>
      <p:bldP spid="92" grpId="0"/>
      <p:bldP spid="93" grpId="0"/>
      <p:bldP spid="94" grpId="0" animBg="1"/>
      <p:bldP spid="96" grpId="0" animBg="1"/>
      <p:bldP spid="97" grpId="0" animBg="1"/>
      <p:bldP spid="98" grpId="0" animBg="1"/>
      <p:bldP spid="99" grpId="0" animBg="1"/>
      <p:bldP spid="100" grpId="0"/>
      <p:bldP spid="101" grpId="0" animBg="1"/>
      <p:bldP spid="102" grpId="0"/>
      <p:bldP spid="103" grpId="0" animBg="1"/>
      <p:bldP spid="105" grpId="0" animBg="1"/>
      <p:bldP spid="112" grpId="0" animBg="1"/>
      <p:bldP spid="114" grpId="0"/>
      <p:bldP spid="116" grpId="0"/>
      <p:bldP spid="120" grpId="0" animBg="1"/>
      <p:bldP spid="121" grpId="0" animBg="1"/>
      <p:bldP spid="122" grpId="0" animBg="1"/>
      <p:bldP spid="123" grpId="0"/>
      <p:bldP spid="124" grpId="0"/>
      <p:bldP spid="125" grpId="0" animBg="1"/>
      <p:bldP spid="127" grpId="0"/>
      <p:bldP spid="129" grpId="0" animBg="1"/>
      <p:bldP spid="130" grpId="0" animBg="1"/>
      <p:bldP spid="132" grpId="0"/>
      <p:bldP spid="133" grpId="0"/>
      <p:bldP spid="134" grpId="0" animBg="1"/>
      <p:bldP spid="135" grpId="0" animBg="1"/>
      <p:bldP spid="137" grpId="0"/>
      <p:bldP spid="138" grpId="0"/>
      <p:bldP spid="140" grpId="0" animBg="1"/>
      <p:bldP spid="141" grpId="0" animBg="1"/>
      <p:bldP spid="142" grpId="0"/>
      <p:bldP spid="144" grpId="0"/>
      <p:bldP spid="145" grpId="0" animBg="1"/>
      <p:bldP spid="146" grpId="0" animBg="1"/>
      <p:bldP spid="147" grpId="0" animBg="1"/>
      <p:bldP spid="148" grpId="0" animBg="1"/>
      <p:bldP spid="149" grpId="0" animBg="1"/>
      <p:bldP spid="150" grpId="0"/>
      <p:bldP spid="151" grpId="0" animBg="1"/>
      <p:bldP spid="152" grpId="0" animBg="1"/>
      <p:bldP spid="153" grpId="0" animBg="1"/>
      <p:bldP spid="1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ounded Rectangle 229">
            <a:extLst>
              <a:ext uri="{FF2B5EF4-FFF2-40B4-BE49-F238E27FC236}">
                <a16:creationId xmlns:a16="http://schemas.microsoft.com/office/drawing/2014/main" id="{1C6461A9-525D-E268-EEFA-46D904D505BB}"/>
              </a:ext>
            </a:extLst>
          </p:cNvPr>
          <p:cNvSpPr/>
          <p:nvPr/>
        </p:nvSpPr>
        <p:spPr>
          <a:xfrm>
            <a:off x="921266" y="2293978"/>
            <a:ext cx="1027102" cy="387056"/>
          </a:xfrm>
          <a:prstGeom prst="roundRect">
            <a:avLst/>
          </a:prstGeom>
          <a:solidFill>
            <a:srgbClr val="A85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F8BEFB70-6834-191C-1654-4929C12A7EB2}"/>
              </a:ext>
            </a:extLst>
          </p:cNvPr>
          <p:cNvSpPr/>
          <p:nvPr/>
        </p:nvSpPr>
        <p:spPr>
          <a:xfrm>
            <a:off x="863534" y="2266316"/>
            <a:ext cx="2973763" cy="446969"/>
          </a:xfrm>
          <a:prstGeom prst="roundRect">
            <a:avLst>
              <a:gd name="adj" fmla="val 25758"/>
            </a:avLst>
          </a:prstGeom>
          <a:noFill/>
          <a:ln>
            <a:solidFill>
              <a:srgbClr val="E6E7E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32" name="Rounded Rectangle 231">
            <a:extLst>
              <a:ext uri="{FF2B5EF4-FFF2-40B4-BE49-F238E27FC236}">
                <a16:creationId xmlns:a16="http://schemas.microsoft.com/office/drawing/2014/main" id="{840DB794-89BF-5C75-DC61-CEE70519780F}"/>
              </a:ext>
            </a:extLst>
          </p:cNvPr>
          <p:cNvSpPr/>
          <p:nvPr/>
        </p:nvSpPr>
        <p:spPr>
          <a:xfrm>
            <a:off x="855521" y="2930761"/>
            <a:ext cx="2989788" cy="2391980"/>
          </a:xfrm>
          <a:prstGeom prst="roundRect">
            <a:avLst>
              <a:gd name="adj" fmla="val 9363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6569F505-01B8-21A8-6E5A-13F0AA5F1492}"/>
              </a:ext>
            </a:extLst>
          </p:cNvPr>
          <p:cNvSpPr/>
          <p:nvPr/>
        </p:nvSpPr>
        <p:spPr>
          <a:xfrm>
            <a:off x="1287028" y="3421877"/>
            <a:ext cx="1799869" cy="345898"/>
          </a:xfrm>
          <a:prstGeom prst="roundRect">
            <a:avLst>
              <a:gd name="adj" fmla="val 17595"/>
            </a:avLst>
          </a:prstGeom>
          <a:solidFill>
            <a:srgbClr val="FBF5FF">
              <a:alpha val="50163"/>
            </a:srgbClr>
          </a:solidFill>
          <a:ln>
            <a:solidFill>
              <a:srgbClr val="EDDAFF">
                <a:alpha val="4975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EA02F6DC-DBE6-D26D-8D54-3B0563DB5271}"/>
              </a:ext>
            </a:extLst>
          </p:cNvPr>
          <p:cNvSpPr/>
          <p:nvPr/>
        </p:nvSpPr>
        <p:spPr>
          <a:xfrm>
            <a:off x="1256960" y="4048932"/>
            <a:ext cx="342794" cy="282985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5BFBE36-FA6C-5A82-39AB-1158C9D75595}"/>
              </a:ext>
            </a:extLst>
          </p:cNvPr>
          <p:cNvSpPr txBox="1"/>
          <p:nvPr/>
        </p:nvSpPr>
        <p:spPr>
          <a:xfrm>
            <a:off x="863533" y="2970095"/>
            <a:ext cx="2545344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ompare_and_swap(3,1)</a:t>
            </a: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C5B366C1-C693-D700-D928-DE4342A31D4B}"/>
              </a:ext>
            </a:extLst>
          </p:cNvPr>
          <p:cNvCxnSpPr/>
          <p:nvPr/>
        </p:nvCxnSpPr>
        <p:spPr>
          <a:xfrm>
            <a:off x="863534" y="3354385"/>
            <a:ext cx="2973764" cy="0"/>
          </a:xfrm>
          <a:prstGeom prst="line">
            <a:avLst/>
          </a:prstGeom>
          <a:ln w="12700">
            <a:solidFill>
              <a:srgbClr val="C4C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9AA805D6-5DF3-0681-BD48-0168F6FB6D6F}"/>
              </a:ext>
            </a:extLst>
          </p:cNvPr>
          <p:cNvSpPr txBox="1"/>
          <p:nvPr/>
        </p:nvSpPr>
        <p:spPr>
          <a:xfrm>
            <a:off x="828126" y="3401299"/>
            <a:ext cx="2616160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                 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CH" sz="1400" b="1" dirty="0">
              <a:solidFill>
                <a:srgbClr val="5048DE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3EBC947-CF63-3AB6-A3A5-2B9FB5844DAE}"/>
              </a:ext>
            </a:extLst>
          </p:cNvPr>
          <p:cNvSpPr txBox="1"/>
          <p:nvPr/>
        </p:nvSpPr>
        <p:spPr>
          <a:xfrm>
            <a:off x="1287027" y="3428467"/>
            <a:ext cx="1738097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s_bigger(3,1)</a:t>
            </a:r>
          </a:p>
        </p:txBody>
      </p:sp>
      <p:sp>
        <p:nvSpPr>
          <p:cNvPr id="239" name="Rounded Rectangle 238">
            <a:extLst>
              <a:ext uri="{FF2B5EF4-FFF2-40B4-BE49-F238E27FC236}">
                <a16:creationId xmlns:a16="http://schemas.microsoft.com/office/drawing/2014/main" id="{3BE49318-AB49-C12B-FEFB-2B2BC6E47E3A}"/>
              </a:ext>
            </a:extLst>
          </p:cNvPr>
          <p:cNvSpPr/>
          <p:nvPr/>
        </p:nvSpPr>
        <p:spPr>
          <a:xfrm>
            <a:off x="1048897" y="3875539"/>
            <a:ext cx="2684383" cy="1301711"/>
          </a:xfrm>
          <a:prstGeom prst="roundRect">
            <a:avLst>
              <a:gd name="adj" fmla="val 14551"/>
            </a:avLst>
          </a:prstGeom>
          <a:solidFill>
            <a:srgbClr val="E7EDFE"/>
          </a:solidFill>
          <a:ln w="6350">
            <a:solidFill>
              <a:srgbClr val="C7D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0" name="Rounded Rectangle 239">
            <a:extLst>
              <a:ext uri="{FF2B5EF4-FFF2-40B4-BE49-F238E27FC236}">
                <a16:creationId xmlns:a16="http://schemas.microsoft.com/office/drawing/2014/main" id="{91FB5B0A-34DE-5F64-F014-8526D206DEA3}"/>
              </a:ext>
            </a:extLst>
          </p:cNvPr>
          <p:cNvSpPr/>
          <p:nvPr/>
        </p:nvSpPr>
        <p:spPr>
          <a:xfrm>
            <a:off x="1218515" y="4038007"/>
            <a:ext cx="2348337" cy="463126"/>
          </a:xfrm>
          <a:prstGeom prst="roundRect">
            <a:avLst>
              <a:gd name="adj" fmla="val 32149"/>
            </a:avLst>
          </a:prstGeom>
          <a:solidFill>
            <a:schemeClr val="bg1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1" name="Rounded Rectangle 240">
            <a:extLst>
              <a:ext uri="{FF2B5EF4-FFF2-40B4-BE49-F238E27FC236}">
                <a16:creationId xmlns:a16="http://schemas.microsoft.com/office/drawing/2014/main" id="{38038A25-9A5A-385D-866D-D34B91372584}"/>
              </a:ext>
            </a:extLst>
          </p:cNvPr>
          <p:cNvSpPr/>
          <p:nvPr/>
        </p:nvSpPr>
        <p:spPr>
          <a:xfrm>
            <a:off x="1216920" y="4587332"/>
            <a:ext cx="2348337" cy="463126"/>
          </a:xfrm>
          <a:prstGeom prst="roundRect">
            <a:avLst>
              <a:gd name="adj" fmla="val 32149"/>
            </a:avLst>
          </a:prstGeom>
          <a:solidFill>
            <a:srgbClr val="EFF4FF"/>
          </a:solidFill>
          <a:ln w="6350">
            <a:solidFill>
              <a:srgbClr val="C7D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2" name="Rounded Rectangle 241">
            <a:extLst>
              <a:ext uri="{FF2B5EF4-FFF2-40B4-BE49-F238E27FC236}">
                <a16:creationId xmlns:a16="http://schemas.microsoft.com/office/drawing/2014/main" id="{B1D001B3-ECF4-660B-4D40-B5EC070EC28A}"/>
              </a:ext>
            </a:extLst>
          </p:cNvPr>
          <p:cNvSpPr/>
          <p:nvPr/>
        </p:nvSpPr>
        <p:spPr>
          <a:xfrm>
            <a:off x="1340174" y="4125498"/>
            <a:ext cx="429198" cy="292618"/>
          </a:xfrm>
          <a:prstGeom prst="roundRect">
            <a:avLst>
              <a:gd name="adj" fmla="val 32482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243" name="Rounded Rectangle 242">
            <a:extLst>
              <a:ext uri="{FF2B5EF4-FFF2-40B4-BE49-F238E27FC236}">
                <a16:creationId xmlns:a16="http://schemas.microsoft.com/office/drawing/2014/main" id="{E03FE134-95E3-CB5C-0E02-0345350CF272}"/>
              </a:ext>
            </a:extLst>
          </p:cNvPr>
          <p:cNvSpPr/>
          <p:nvPr/>
        </p:nvSpPr>
        <p:spPr>
          <a:xfrm>
            <a:off x="1843350" y="4112159"/>
            <a:ext cx="1181773" cy="306026"/>
          </a:xfrm>
          <a:prstGeom prst="roundRect">
            <a:avLst>
              <a:gd name="adj" fmla="val 37122"/>
            </a:avLst>
          </a:prstGeom>
          <a:solidFill>
            <a:srgbClr val="FBF5FF"/>
          </a:solidFill>
          <a:ln>
            <a:solidFill>
              <a:srgbClr val="EDD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E1BB5F04-9035-D562-CAEA-8E1A04D9C63C}"/>
              </a:ext>
            </a:extLst>
          </p:cNvPr>
          <p:cNvSpPr txBox="1"/>
          <p:nvPr/>
        </p:nvSpPr>
        <p:spPr>
          <a:xfrm>
            <a:off x="1819368" y="4086650"/>
            <a:ext cx="1267528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swap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(3,1)</a:t>
            </a:r>
          </a:p>
        </p:txBody>
      </p:sp>
      <p:sp>
        <p:nvSpPr>
          <p:cNvPr id="245" name="Rounded Rectangle 244">
            <a:extLst>
              <a:ext uri="{FF2B5EF4-FFF2-40B4-BE49-F238E27FC236}">
                <a16:creationId xmlns:a16="http://schemas.microsoft.com/office/drawing/2014/main" id="{99304927-DC65-E42B-9EAD-F85D39FEB26D}"/>
              </a:ext>
            </a:extLst>
          </p:cNvPr>
          <p:cNvSpPr/>
          <p:nvPr/>
        </p:nvSpPr>
        <p:spPr>
          <a:xfrm>
            <a:off x="1323903" y="4688526"/>
            <a:ext cx="535880" cy="274821"/>
          </a:xfrm>
          <a:prstGeom prst="roundRect">
            <a:avLst>
              <a:gd name="adj" fmla="val 32482"/>
            </a:avLst>
          </a:prstGeom>
          <a:solidFill>
            <a:srgbClr val="EFF4FF"/>
          </a:solidFill>
          <a:ln>
            <a:solidFill>
              <a:srgbClr val="E0E5E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rgbClr val="6C7280">
                    <a:alpha val="49777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9E83016D-A39D-4B3F-7288-F5B1D26128C2}"/>
              </a:ext>
            </a:extLst>
          </p:cNvPr>
          <p:cNvSpPr txBox="1"/>
          <p:nvPr/>
        </p:nvSpPr>
        <p:spPr>
          <a:xfrm>
            <a:off x="1823800" y="4655677"/>
            <a:ext cx="1428684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C0C5D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 nothing</a:t>
            </a:r>
            <a:endParaRPr lang="en-CH" sz="1400" b="1" dirty="0">
              <a:solidFill>
                <a:srgbClr val="C0C5D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E07CF158-740F-3A36-4251-E666355799B5}"/>
              </a:ext>
            </a:extLst>
          </p:cNvPr>
          <p:cNvSpPr/>
          <p:nvPr/>
        </p:nvSpPr>
        <p:spPr>
          <a:xfrm>
            <a:off x="3436273" y="3006432"/>
            <a:ext cx="288995" cy="268583"/>
          </a:xfrm>
          <a:prstGeom prst="ellipse">
            <a:avLst/>
          </a:prstGeom>
          <a:solidFill>
            <a:schemeClr val="bg1"/>
          </a:solidFill>
          <a:ln w="12700">
            <a:solidFill>
              <a:srgbClr val="D4E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67767" rtlCol="0" anchor="ctr"/>
          <a:lstStyle/>
          <a:p>
            <a:pPr algn="ctr"/>
            <a:r>
              <a:rPr lang="en-CH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^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BFF98B82-A0DE-DB3E-B01B-E604776ED06F}"/>
              </a:ext>
            </a:extLst>
          </p:cNvPr>
          <p:cNvSpPr txBox="1"/>
          <p:nvPr/>
        </p:nvSpPr>
        <p:spPr>
          <a:xfrm>
            <a:off x="1064820" y="2296249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</a:t>
            </a:r>
            <a:endParaRPr lang="en-CH" sz="1400" b="1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80EE57AF-1BDE-9174-3685-EBC7ECE0DE7D}"/>
              </a:ext>
            </a:extLst>
          </p:cNvPr>
          <p:cNvSpPr txBox="1"/>
          <p:nvPr/>
        </p:nvSpPr>
        <p:spPr>
          <a:xfrm>
            <a:off x="2815538" y="2304589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param</a:t>
            </a:r>
            <a:endParaRPr lang="en-CH" sz="1400" b="1" dirty="0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86DF7062-930F-723D-409C-F7CAFC18B4CC}"/>
              </a:ext>
            </a:extLst>
          </p:cNvPr>
          <p:cNvSpPr/>
          <p:nvPr/>
        </p:nvSpPr>
        <p:spPr>
          <a:xfrm>
            <a:off x="5326656" y="2293305"/>
            <a:ext cx="962813" cy="387056"/>
          </a:xfrm>
          <a:prstGeom prst="roundRect">
            <a:avLst/>
          </a:prstGeom>
          <a:solidFill>
            <a:srgbClr val="A85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7C022D40-15D0-0227-8419-29E1186873AD}"/>
              </a:ext>
            </a:extLst>
          </p:cNvPr>
          <p:cNvSpPr/>
          <p:nvPr/>
        </p:nvSpPr>
        <p:spPr>
          <a:xfrm>
            <a:off x="4024907" y="2930778"/>
            <a:ext cx="3569329" cy="2391980"/>
          </a:xfrm>
          <a:prstGeom prst="roundRect">
            <a:avLst>
              <a:gd name="adj" fmla="val 9363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2" name="Rounded Rectangle 251">
            <a:extLst>
              <a:ext uri="{FF2B5EF4-FFF2-40B4-BE49-F238E27FC236}">
                <a16:creationId xmlns:a16="http://schemas.microsoft.com/office/drawing/2014/main" id="{699C89C2-B292-F925-9F45-2FC8E605A660}"/>
              </a:ext>
            </a:extLst>
          </p:cNvPr>
          <p:cNvSpPr/>
          <p:nvPr/>
        </p:nvSpPr>
        <p:spPr>
          <a:xfrm>
            <a:off x="4456413" y="3421895"/>
            <a:ext cx="2278229" cy="345898"/>
          </a:xfrm>
          <a:prstGeom prst="roundRect">
            <a:avLst>
              <a:gd name="adj" fmla="val 17595"/>
            </a:avLst>
          </a:prstGeom>
          <a:solidFill>
            <a:srgbClr val="FBF5FF">
              <a:alpha val="50163"/>
            </a:srgbClr>
          </a:solidFill>
          <a:ln>
            <a:solidFill>
              <a:srgbClr val="EDDAFF">
                <a:alpha val="4975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3" name="Rounded Rectangle 252">
            <a:extLst>
              <a:ext uri="{FF2B5EF4-FFF2-40B4-BE49-F238E27FC236}">
                <a16:creationId xmlns:a16="http://schemas.microsoft.com/office/drawing/2014/main" id="{E283AB67-EF9F-2689-D85F-2D0167B5C100}"/>
              </a:ext>
            </a:extLst>
          </p:cNvPr>
          <p:cNvSpPr/>
          <p:nvPr/>
        </p:nvSpPr>
        <p:spPr>
          <a:xfrm>
            <a:off x="4426345" y="4048949"/>
            <a:ext cx="342794" cy="282985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91295E7-562D-36D3-E4AC-CAFA7E8D2138}"/>
              </a:ext>
            </a:extLst>
          </p:cNvPr>
          <p:cNvSpPr txBox="1"/>
          <p:nvPr/>
        </p:nvSpPr>
        <p:spPr>
          <a:xfrm>
            <a:off x="4032919" y="2970113"/>
            <a:ext cx="3170178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ompare_and_swap(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a[0]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a[1]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221BF71D-6523-7300-EC09-7340DA9F99A6}"/>
              </a:ext>
            </a:extLst>
          </p:cNvPr>
          <p:cNvCxnSpPr>
            <a:cxnSpLocks/>
          </p:cNvCxnSpPr>
          <p:nvPr/>
        </p:nvCxnSpPr>
        <p:spPr>
          <a:xfrm>
            <a:off x="4032920" y="3354402"/>
            <a:ext cx="3561316" cy="0"/>
          </a:xfrm>
          <a:prstGeom prst="line">
            <a:avLst/>
          </a:prstGeom>
          <a:ln w="12700">
            <a:solidFill>
              <a:srgbClr val="C4C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31A9C41F-E6A2-0849-3AEF-0877969D5157}"/>
              </a:ext>
            </a:extLst>
          </p:cNvPr>
          <p:cNvSpPr txBox="1"/>
          <p:nvPr/>
        </p:nvSpPr>
        <p:spPr>
          <a:xfrm>
            <a:off x="3997511" y="3401317"/>
            <a:ext cx="3069335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                     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CH" sz="1400" b="1" dirty="0">
              <a:solidFill>
                <a:srgbClr val="5048DE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61A241A-ED05-5391-30EB-C1CA5C22546A}"/>
              </a:ext>
            </a:extLst>
          </p:cNvPr>
          <p:cNvSpPr txBox="1"/>
          <p:nvPr/>
        </p:nvSpPr>
        <p:spPr>
          <a:xfrm>
            <a:off x="4456411" y="3428485"/>
            <a:ext cx="2348337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s_bigger(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a[0]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a[1]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72A2BDF8-F6D1-CE01-C4DB-569B358DC358}"/>
              </a:ext>
            </a:extLst>
          </p:cNvPr>
          <p:cNvSpPr/>
          <p:nvPr/>
        </p:nvSpPr>
        <p:spPr>
          <a:xfrm>
            <a:off x="4218282" y="3875557"/>
            <a:ext cx="3170177" cy="1301711"/>
          </a:xfrm>
          <a:prstGeom prst="roundRect">
            <a:avLst>
              <a:gd name="adj" fmla="val 14551"/>
            </a:avLst>
          </a:prstGeom>
          <a:solidFill>
            <a:srgbClr val="E7EDFE"/>
          </a:solidFill>
          <a:ln w="6350">
            <a:solidFill>
              <a:srgbClr val="C7D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9" name="Rounded Rectangle 258">
            <a:extLst>
              <a:ext uri="{FF2B5EF4-FFF2-40B4-BE49-F238E27FC236}">
                <a16:creationId xmlns:a16="http://schemas.microsoft.com/office/drawing/2014/main" id="{56864C34-F9CA-7C8B-52F1-84C6359AEACF}"/>
              </a:ext>
            </a:extLst>
          </p:cNvPr>
          <p:cNvSpPr/>
          <p:nvPr/>
        </p:nvSpPr>
        <p:spPr>
          <a:xfrm>
            <a:off x="4387901" y="4038023"/>
            <a:ext cx="2815195" cy="463126"/>
          </a:xfrm>
          <a:prstGeom prst="roundRect">
            <a:avLst>
              <a:gd name="adj" fmla="val 32149"/>
            </a:avLst>
          </a:prstGeom>
          <a:solidFill>
            <a:schemeClr val="bg1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0" name="Rounded Rectangle 259">
            <a:extLst>
              <a:ext uri="{FF2B5EF4-FFF2-40B4-BE49-F238E27FC236}">
                <a16:creationId xmlns:a16="http://schemas.microsoft.com/office/drawing/2014/main" id="{89EEF011-EE7C-DA39-7555-2DEBA609758F}"/>
              </a:ext>
            </a:extLst>
          </p:cNvPr>
          <p:cNvSpPr/>
          <p:nvPr/>
        </p:nvSpPr>
        <p:spPr>
          <a:xfrm>
            <a:off x="4386306" y="4587349"/>
            <a:ext cx="2815194" cy="463126"/>
          </a:xfrm>
          <a:prstGeom prst="roundRect">
            <a:avLst>
              <a:gd name="adj" fmla="val 32149"/>
            </a:avLst>
          </a:prstGeom>
          <a:solidFill>
            <a:srgbClr val="EFF4FF"/>
          </a:solidFill>
          <a:ln w="6350">
            <a:solidFill>
              <a:srgbClr val="C7D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1" name="Rounded Rectangle 260">
            <a:extLst>
              <a:ext uri="{FF2B5EF4-FFF2-40B4-BE49-F238E27FC236}">
                <a16:creationId xmlns:a16="http://schemas.microsoft.com/office/drawing/2014/main" id="{AD7F0CDB-A216-72AB-7B9B-8D9CE62F80FF}"/>
              </a:ext>
            </a:extLst>
          </p:cNvPr>
          <p:cNvSpPr/>
          <p:nvPr/>
        </p:nvSpPr>
        <p:spPr>
          <a:xfrm>
            <a:off x="4509560" y="4125516"/>
            <a:ext cx="429197" cy="282985"/>
          </a:xfrm>
          <a:prstGeom prst="roundRect">
            <a:avLst>
              <a:gd name="adj" fmla="val 32482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262" name="Rounded Rectangle 261">
            <a:extLst>
              <a:ext uri="{FF2B5EF4-FFF2-40B4-BE49-F238E27FC236}">
                <a16:creationId xmlns:a16="http://schemas.microsoft.com/office/drawing/2014/main" id="{7A001590-D983-2469-B72C-76A775B8B100}"/>
              </a:ext>
            </a:extLst>
          </p:cNvPr>
          <p:cNvSpPr/>
          <p:nvPr/>
        </p:nvSpPr>
        <p:spPr>
          <a:xfrm>
            <a:off x="5012736" y="4112177"/>
            <a:ext cx="1912737" cy="306026"/>
          </a:xfrm>
          <a:prstGeom prst="roundRect">
            <a:avLst>
              <a:gd name="adj" fmla="val 37122"/>
            </a:avLst>
          </a:prstGeom>
          <a:solidFill>
            <a:srgbClr val="FBF5FF"/>
          </a:solidFill>
          <a:ln>
            <a:solidFill>
              <a:srgbClr val="EDD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0673C41-1DC8-C323-895F-29391FD153A4}"/>
              </a:ext>
            </a:extLst>
          </p:cNvPr>
          <p:cNvSpPr txBox="1"/>
          <p:nvPr/>
        </p:nvSpPr>
        <p:spPr>
          <a:xfrm>
            <a:off x="4988755" y="4086668"/>
            <a:ext cx="2026007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swap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a[0]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a[1]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264" name="Rounded Rectangle 263">
            <a:extLst>
              <a:ext uri="{FF2B5EF4-FFF2-40B4-BE49-F238E27FC236}">
                <a16:creationId xmlns:a16="http://schemas.microsoft.com/office/drawing/2014/main" id="{9BA4F143-49CD-8A4B-04C2-1D4F43AC9E14}"/>
              </a:ext>
            </a:extLst>
          </p:cNvPr>
          <p:cNvSpPr/>
          <p:nvPr/>
        </p:nvSpPr>
        <p:spPr>
          <a:xfrm>
            <a:off x="4493288" y="4688543"/>
            <a:ext cx="519447" cy="282985"/>
          </a:xfrm>
          <a:prstGeom prst="roundRect">
            <a:avLst>
              <a:gd name="adj" fmla="val 32482"/>
            </a:avLst>
          </a:prstGeom>
          <a:solidFill>
            <a:srgbClr val="EFF4FF"/>
          </a:solidFill>
          <a:ln>
            <a:solidFill>
              <a:srgbClr val="E0E5E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rgbClr val="6C7280">
                    <a:alpha val="49777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D1CEA13-8DC6-CEE4-8991-13470DA6BA71}"/>
              </a:ext>
            </a:extLst>
          </p:cNvPr>
          <p:cNvSpPr txBox="1"/>
          <p:nvPr/>
        </p:nvSpPr>
        <p:spPr>
          <a:xfrm>
            <a:off x="4993186" y="4655695"/>
            <a:ext cx="1428684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C0C5D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 nothing</a:t>
            </a:r>
            <a:endParaRPr lang="en-CH" sz="1400" b="1" dirty="0">
              <a:solidFill>
                <a:srgbClr val="C0C5D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7A0945FF-87EC-EC97-F517-99098AA605EA}"/>
              </a:ext>
            </a:extLst>
          </p:cNvPr>
          <p:cNvSpPr/>
          <p:nvPr/>
        </p:nvSpPr>
        <p:spPr>
          <a:xfrm>
            <a:off x="7203098" y="2990122"/>
            <a:ext cx="288995" cy="268583"/>
          </a:xfrm>
          <a:prstGeom prst="ellipse">
            <a:avLst/>
          </a:prstGeom>
          <a:solidFill>
            <a:schemeClr val="bg1"/>
          </a:solidFill>
          <a:ln w="12700">
            <a:solidFill>
              <a:srgbClr val="D4E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67767" rtlCol="0" anchor="ctr"/>
          <a:lstStyle/>
          <a:p>
            <a:pPr algn="ctr"/>
            <a:r>
              <a:rPr lang="en-CH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^</a:t>
            </a:r>
          </a:p>
        </p:txBody>
      </p:sp>
      <p:sp>
        <p:nvSpPr>
          <p:cNvPr id="267" name="Rounded Rectangle 266">
            <a:extLst>
              <a:ext uri="{FF2B5EF4-FFF2-40B4-BE49-F238E27FC236}">
                <a16:creationId xmlns:a16="http://schemas.microsoft.com/office/drawing/2014/main" id="{85FD6895-F984-9A9B-36BF-80EFAC12824B}"/>
              </a:ext>
            </a:extLst>
          </p:cNvPr>
          <p:cNvSpPr/>
          <p:nvPr/>
        </p:nvSpPr>
        <p:spPr>
          <a:xfrm>
            <a:off x="10022056" y="2245485"/>
            <a:ext cx="940016" cy="387056"/>
          </a:xfrm>
          <a:prstGeom prst="roundRect">
            <a:avLst/>
          </a:prstGeom>
          <a:solidFill>
            <a:srgbClr val="A85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C918C688-2688-CAE5-3DC3-3A62B96E00A6}"/>
              </a:ext>
            </a:extLst>
          </p:cNvPr>
          <p:cNvSpPr txBox="1"/>
          <p:nvPr/>
        </p:nvSpPr>
        <p:spPr>
          <a:xfrm>
            <a:off x="10105031" y="2271892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param</a:t>
            </a:r>
            <a:endParaRPr lang="en-CH" sz="1400" b="1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F679A9C6-80B7-B16D-D7F3-17CFCF07A6E8}"/>
              </a:ext>
            </a:extLst>
          </p:cNvPr>
          <p:cNvSpPr txBox="1"/>
          <p:nvPr/>
        </p:nvSpPr>
        <p:spPr>
          <a:xfrm>
            <a:off x="1950470" y="2314994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index</a:t>
            </a:r>
            <a:endParaRPr lang="en-CH" sz="1400" b="1" dirty="0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0" name="Rounded Rectangle 269">
            <a:extLst>
              <a:ext uri="{FF2B5EF4-FFF2-40B4-BE49-F238E27FC236}">
                <a16:creationId xmlns:a16="http://schemas.microsoft.com/office/drawing/2014/main" id="{21CE536E-6CD6-B1A4-9EE8-A473E2BE86CE}"/>
              </a:ext>
            </a:extLst>
          </p:cNvPr>
          <p:cNvSpPr/>
          <p:nvPr/>
        </p:nvSpPr>
        <p:spPr>
          <a:xfrm>
            <a:off x="7778408" y="2930761"/>
            <a:ext cx="3707271" cy="2391980"/>
          </a:xfrm>
          <a:prstGeom prst="roundRect">
            <a:avLst>
              <a:gd name="adj" fmla="val 9363"/>
            </a:avLst>
          </a:prstGeom>
          <a:solidFill>
            <a:srgbClr val="EFF6FE"/>
          </a:solidFill>
          <a:ln>
            <a:solidFill>
              <a:srgbClr val="C4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1" name="Rounded Rectangle 270">
            <a:extLst>
              <a:ext uri="{FF2B5EF4-FFF2-40B4-BE49-F238E27FC236}">
                <a16:creationId xmlns:a16="http://schemas.microsoft.com/office/drawing/2014/main" id="{F416AB39-56C6-B645-463E-F541F860F4A1}"/>
              </a:ext>
            </a:extLst>
          </p:cNvPr>
          <p:cNvSpPr/>
          <p:nvPr/>
        </p:nvSpPr>
        <p:spPr>
          <a:xfrm>
            <a:off x="8209915" y="3421877"/>
            <a:ext cx="2457828" cy="345898"/>
          </a:xfrm>
          <a:prstGeom prst="roundRect">
            <a:avLst>
              <a:gd name="adj" fmla="val 17595"/>
            </a:avLst>
          </a:prstGeom>
          <a:solidFill>
            <a:srgbClr val="FBF5FF">
              <a:alpha val="50163"/>
            </a:srgbClr>
          </a:solidFill>
          <a:ln>
            <a:solidFill>
              <a:srgbClr val="EDDAFF">
                <a:alpha val="4975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2" name="Rounded Rectangle 271">
            <a:extLst>
              <a:ext uri="{FF2B5EF4-FFF2-40B4-BE49-F238E27FC236}">
                <a16:creationId xmlns:a16="http://schemas.microsoft.com/office/drawing/2014/main" id="{5E8C9359-0E07-DC21-1DBE-372455D00A6B}"/>
              </a:ext>
            </a:extLst>
          </p:cNvPr>
          <p:cNvSpPr/>
          <p:nvPr/>
        </p:nvSpPr>
        <p:spPr>
          <a:xfrm>
            <a:off x="8179847" y="4048932"/>
            <a:ext cx="342794" cy="282985"/>
          </a:xfrm>
          <a:prstGeom prst="roundRect">
            <a:avLst>
              <a:gd name="adj" fmla="val 32482"/>
            </a:avLst>
          </a:prstGeom>
          <a:solidFill>
            <a:srgbClr val="FFF8ED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A656A435-DF68-F6C4-C8E3-D36317E023BD}"/>
              </a:ext>
            </a:extLst>
          </p:cNvPr>
          <p:cNvSpPr txBox="1"/>
          <p:nvPr/>
        </p:nvSpPr>
        <p:spPr>
          <a:xfrm>
            <a:off x="7786420" y="2970095"/>
            <a:ext cx="3349777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ompare_and_swap(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a[i]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a[i+1]</a:t>
            </a:r>
            <a:r>
              <a:rPr lang="en-CH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FBA7A3D6-D92B-81EE-F558-591E081AF4CF}"/>
              </a:ext>
            </a:extLst>
          </p:cNvPr>
          <p:cNvCxnSpPr>
            <a:cxnSpLocks/>
          </p:cNvCxnSpPr>
          <p:nvPr/>
        </p:nvCxnSpPr>
        <p:spPr>
          <a:xfrm>
            <a:off x="7786421" y="3354385"/>
            <a:ext cx="3699258" cy="0"/>
          </a:xfrm>
          <a:prstGeom prst="line">
            <a:avLst/>
          </a:prstGeom>
          <a:ln w="12700">
            <a:solidFill>
              <a:srgbClr val="C4C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>
            <a:extLst>
              <a:ext uri="{FF2B5EF4-FFF2-40B4-BE49-F238E27FC236}">
                <a16:creationId xmlns:a16="http://schemas.microsoft.com/office/drawing/2014/main" id="{ADD1B291-A23A-636F-E4E8-9DF0AACF2CC1}"/>
              </a:ext>
            </a:extLst>
          </p:cNvPr>
          <p:cNvSpPr txBox="1"/>
          <p:nvPr/>
        </p:nvSpPr>
        <p:spPr>
          <a:xfrm>
            <a:off x="7751012" y="3401299"/>
            <a:ext cx="3248934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                        </a:t>
            </a: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r>
              <a:rPr lang="en-US" sz="1400" b="1" dirty="0">
                <a:solidFill>
                  <a:srgbClr val="5048DE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endParaRPr lang="en-CH" sz="1400" b="1" dirty="0">
              <a:solidFill>
                <a:srgbClr val="5048DE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05571739-4150-7627-07F1-50D30E32A3DD}"/>
              </a:ext>
            </a:extLst>
          </p:cNvPr>
          <p:cNvSpPr txBox="1"/>
          <p:nvPr/>
        </p:nvSpPr>
        <p:spPr>
          <a:xfrm>
            <a:off x="8169676" y="3428467"/>
            <a:ext cx="2570524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s_bigger(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a[i]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a[i+1]</a:t>
            </a:r>
            <a:r>
              <a:rPr lang="en-CH" sz="1400" b="1" dirty="0">
                <a:solidFill>
                  <a:srgbClr val="BA782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</a:t>
            </a:r>
          </a:p>
        </p:txBody>
      </p:sp>
      <p:sp>
        <p:nvSpPr>
          <p:cNvPr id="277" name="Rounded Rectangle 276">
            <a:extLst>
              <a:ext uri="{FF2B5EF4-FFF2-40B4-BE49-F238E27FC236}">
                <a16:creationId xmlns:a16="http://schemas.microsoft.com/office/drawing/2014/main" id="{C526FA86-E20C-95CE-9B8B-197E5E92ECBA}"/>
              </a:ext>
            </a:extLst>
          </p:cNvPr>
          <p:cNvSpPr/>
          <p:nvPr/>
        </p:nvSpPr>
        <p:spPr>
          <a:xfrm>
            <a:off x="7971784" y="3875539"/>
            <a:ext cx="3170177" cy="1301711"/>
          </a:xfrm>
          <a:prstGeom prst="roundRect">
            <a:avLst>
              <a:gd name="adj" fmla="val 14551"/>
            </a:avLst>
          </a:prstGeom>
          <a:solidFill>
            <a:srgbClr val="E7EDFE"/>
          </a:solidFill>
          <a:ln w="6350">
            <a:solidFill>
              <a:srgbClr val="C7D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8" name="Rounded Rectangle 277">
            <a:extLst>
              <a:ext uri="{FF2B5EF4-FFF2-40B4-BE49-F238E27FC236}">
                <a16:creationId xmlns:a16="http://schemas.microsoft.com/office/drawing/2014/main" id="{73370B14-B0E2-709E-01A6-05E063555F9E}"/>
              </a:ext>
            </a:extLst>
          </p:cNvPr>
          <p:cNvSpPr/>
          <p:nvPr/>
        </p:nvSpPr>
        <p:spPr>
          <a:xfrm>
            <a:off x="8141403" y="4038007"/>
            <a:ext cx="2815195" cy="463126"/>
          </a:xfrm>
          <a:prstGeom prst="roundRect">
            <a:avLst>
              <a:gd name="adj" fmla="val 32149"/>
            </a:avLst>
          </a:prstGeom>
          <a:solidFill>
            <a:schemeClr val="bg1"/>
          </a:solidFill>
          <a:ln w="6350">
            <a:solidFill>
              <a:srgbClr val="7FC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9" name="Rounded Rectangle 278">
            <a:extLst>
              <a:ext uri="{FF2B5EF4-FFF2-40B4-BE49-F238E27FC236}">
                <a16:creationId xmlns:a16="http://schemas.microsoft.com/office/drawing/2014/main" id="{737BAD5D-B626-1603-C401-9525E08A0629}"/>
              </a:ext>
            </a:extLst>
          </p:cNvPr>
          <p:cNvSpPr/>
          <p:nvPr/>
        </p:nvSpPr>
        <p:spPr>
          <a:xfrm>
            <a:off x="8139807" y="4587332"/>
            <a:ext cx="2815194" cy="463126"/>
          </a:xfrm>
          <a:prstGeom prst="roundRect">
            <a:avLst>
              <a:gd name="adj" fmla="val 32149"/>
            </a:avLst>
          </a:prstGeom>
          <a:solidFill>
            <a:srgbClr val="EFF4FF"/>
          </a:solidFill>
          <a:ln w="6350">
            <a:solidFill>
              <a:srgbClr val="C7D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0" name="Rounded Rectangle 279">
            <a:extLst>
              <a:ext uri="{FF2B5EF4-FFF2-40B4-BE49-F238E27FC236}">
                <a16:creationId xmlns:a16="http://schemas.microsoft.com/office/drawing/2014/main" id="{D5A0431F-97F5-EE74-379E-A75FB37A7898}"/>
              </a:ext>
            </a:extLst>
          </p:cNvPr>
          <p:cNvSpPr/>
          <p:nvPr/>
        </p:nvSpPr>
        <p:spPr>
          <a:xfrm>
            <a:off x="8263062" y="4125498"/>
            <a:ext cx="429198" cy="282985"/>
          </a:xfrm>
          <a:prstGeom prst="roundRect">
            <a:avLst>
              <a:gd name="adj" fmla="val 32482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chemeClr val="accent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True</a:t>
            </a:r>
          </a:p>
        </p:txBody>
      </p:sp>
      <p:sp>
        <p:nvSpPr>
          <p:cNvPr id="281" name="Rounded Rectangle 280">
            <a:extLst>
              <a:ext uri="{FF2B5EF4-FFF2-40B4-BE49-F238E27FC236}">
                <a16:creationId xmlns:a16="http://schemas.microsoft.com/office/drawing/2014/main" id="{0B909738-259A-3072-F797-2DA40878E866}"/>
              </a:ext>
            </a:extLst>
          </p:cNvPr>
          <p:cNvSpPr/>
          <p:nvPr/>
        </p:nvSpPr>
        <p:spPr>
          <a:xfrm>
            <a:off x="8766237" y="4112159"/>
            <a:ext cx="2054110" cy="306026"/>
          </a:xfrm>
          <a:prstGeom prst="roundRect">
            <a:avLst>
              <a:gd name="adj" fmla="val 37122"/>
            </a:avLst>
          </a:prstGeom>
          <a:solidFill>
            <a:srgbClr val="FBF5FF"/>
          </a:solidFill>
          <a:ln>
            <a:solidFill>
              <a:srgbClr val="EDD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7C1E498D-2B4F-9DDB-46CD-9646AA152D55}"/>
              </a:ext>
            </a:extLst>
          </p:cNvPr>
          <p:cNvSpPr txBox="1"/>
          <p:nvPr/>
        </p:nvSpPr>
        <p:spPr>
          <a:xfrm>
            <a:off x="8742257" y="4086650"/>
            <a:ext cx="2054110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swap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a[i]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r>
              <a:rPr lang="en-CH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a[i+1]</a:t>
            </a:r>
            <a:r>
              <a:rPr lang="en-CH" sz="1400" b="1" dirty="0">
                <a:solidFill>
                  <a:srgbClr val="9339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283" name="Rounded Rectangle 282">
            <a:extLst>
              <a:ext uri="{FF2B5EF4-FFF2-40B4-BE49-F238E27FC236}">
                <a16:creationId xmlns:a16="http://schemas.microsoft.com/office/drawing/2014/main" id="{0E88069F-DE4C-ED14-2717-BEF2FC7D8E2F}"/>
              </a:ext>
            </a:extLst>
          </p:cNvPr>
          <p:cNvSpPr/>
          <p:nvPr/>
        </p:nvSpPr>
        <p:spPr>
          <a:xfrm>
            <a:off x="8246791" y="4688526"/>
            <a:ext cx="519446" cy="282985"/>
          </a:xfrm>
          <a:prstGeom prst="roundRect">
            <a:avLst>
              <a:gd name="adj" fmla="val 32482"/>
            </a:avLst>
          </a:prstGeom>
          <a:solidFill>
            <a:srgbClr val="EFF4FF"/>
          </a:solidFill>
          <a:ln>
            <a:solidFill>
              <a:srgbClr val="E0E5E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H" sz="1200" b="1" dirty="0">
                <a:solidFill>
                  <a:srgbClr val="6C7280">
                    <a:alpha val="49777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False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3E59D09-A087-A9D7-A1DB-5D534C64D88B}"/>
              </a:ext>
            </a:extLst>
          </p:cNvPr>
          <p:cNvSpPr txBox="1"/>
          <p:nvPr/>
        </p:nvSpPr>
        <p:spPr>
          <a:xfrm>
            <a:off x="8746688" y="4655677"/>
            <a:ext cx="1428684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C0C5D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do nothing</a:t>
            </a:r>
            <a:endParaRPr lang="en-CH" sz="1400" b="1" dirty="0">
              <a:solidFill>
                <a:srgbClr val="C0C5D2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C9C785F5-D336-C0E9-B1C6-9B0D7ED78B45}"/>
              </a:ext>
            </a:extLst>
          </p:cNvPr>
          <p:cNvSpPr/>
          <p:nvPr/>
        </p:nvSpPr>
        <p:spPr>
          <a:xfrm>
            <a:off x="11090270" y="3006432"/>
            <a:ext cx="288995" cy="268583"/>
          </a:xfrm>
          <a:prstGeom prst="ellipse">
            <a:avLst/>
          </a:prstGeom>
          <a:solidFill>
            <a:schemeClr val="bg1"/>
          </a:solidFill>
          <a:ln w="12700">
            <a:solidFill>
              <a:srgbClr val="D4E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67767" rtlCol="0" anchor="ctr"/>
          <a:lstStyle/>
          <a:p>
            <a:pPr algn="ctr"/>
            <a:r>
              <a:rPr lang="en-CH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^</a:t>
            </a:r>
          </a:p>
        </p:txBody>
      </p:sp>
      <p:sp>
        <p:nvSpPr>
          <p:cNvPr id="286" name="Rounded Rectangle 285">
            <a:extLst>
              <a:ext uri="{FF2B5EF4-FFF2-40B4-BE49-F238E27FC236}">
                <a16:creationId xmlns:a16="http://schemas.microsoft.com/office/drawing/2014/main" id="{7B5A2862-C7FC-B235-D6E4-2642EA5A3A2C}"/>
              </a:ext>
            </a:extLst>
          </p:cNvPr>
          <p:cNvSpPr/>
          <p:nvPr/>
        </p:nvSpPr>
        <p:spPr>
          <a:xfrm>
            <a:off x="9362771" y="2759078"/>
            <a:ext cx="549974" cy="2820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C5C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7004A152-5CD1-7C5A-28E7-D2F990C9D00E}"/>
              </a:ext>
            </a:extLst>
          </p:cNvPr>
          <p:cNvSpPr txBox="1"/>
          <p:nvPr/>
        </p:nvSpPr>
        <p:spPr>
          <a:xfrm>
            <a:off x="9375478" y="2752349"/>
            <a:ext cx="928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200" b="1" dirty="0">
                <a:solidFill>
                  <a:srgbClr val="6466F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i=0</a:t>
            </a:r>
          </a:p>
        </p:txBody>
      </p: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1CB516D6-2256-5612-67E2-FFA1B67C75EC}"/>
              </a:ext>
            </a:extLst>
          </p:cNvPr>
          <p:cNvSpPr/>
          <p:nvPr/>
        </p:nvSpPr>
        <p:spPr>
          <a:xfrm>
            <a:off x="4319881" y="2254307"/>
            <a:ext cx="2973763" cy="446969"/>
          </a:xfrm>
          <a:prstGeom prst="roundRect">
            <a:avLst>
              <a:gd name="adj" fmla="val 25758"/>
            </a:avLst>
          </a:prstGeom>
          <a:noFill/>
          <a:ln>
            <a:solidFill>
              <a:srgbClr val="E6E7E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C802F58B-4DAE-FCFB-6A0F-FCB9F6A60CDB}"/>
              </a:ext>
            </a:extLst>
          </p:cNvPr>
          <p:cNvSpPr txBox="1"/>
          <p:nvPr/>
        </p:nvSpPr>
        <p:spPr>
          <a:xfrm>
            <a:off x="4429006" y="2296167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</a:t>
            </a:r>
            <a:endParaRPr lang="en-CH" sz="1400" b="1" dirty="0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713432CD-F740-D32F-E31F-4F84ED8E1335}"/>
              </a:ext>
            </a:extLst>
          </p:cNvPr>
          <p:cNvSpPr txBox="1"/>
          <p:nvPr/>
        </p:nvSpPr>
        <p:spPr>
          <a:xfrm>
            <a:off x="6271884" y="2292580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param</a:t>
            </a:r>
            <a:endParaRPr lang="en-CH" sz="1400" b="1" dirty="0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FD4B9DD3-BDD5-0F3F-6173-A45D860B5695}"/>
              </a:ext>
            </a:extLst>
          </p:cNvPr>
          <p:cNvSpPr txBox="1"/>
          <p:nvPr/>
        </p:nvSpPr>
        <p:spPr>
          <a:xfrm>
            <a:off x="5445292" y="2304591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index</a:t>
            </a:r>
            <a:endParaRPr lang="en-CH" sz="1400" b="1" dirty="0">
              <a:solidFill>
                <a:schemeClr val="bg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2" name="Rounded Rectangle 291">
            <a:extLst>
              <a:ext uri="{FF2B5EF4-FFF2-40B4-BE49-F238E27FC236}">
                <a16:creationId xmlns:a16="http://schemas.microsoft.com/office/drawing/2014/main" id="{F0DE0A99-3300-869F-257A-B63C8964ACDD}"/>
              </a:ext>
            </a:extLst>
          </p:cNvPr>
          <p:cNvSpPr/>
          <p:nvPr/>
        </p:nvSpPr>
        <p:spPr>
          <a:xfrm>
            <a:off x="8026184" y="2230875"/>
            <a:ext cx="2973763" cy="446969"/>
          </a:xfrm>
          <a:prstGeom prst="roundRect">
            <a:avLst>
              <a:gd name="adj" fmla="val 25758"/>
            </a:avLst>
          </a:prstGeom>
          <a:noFill/>
          <a:ln>
            <a:solidFill>
              <a:srgbClr val="E6E7E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2400" b="1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AC17B296-A3D2-36FD-942B-AB9052A250BA}"/>
              </a:ext>
            </a:extLst>
          </p:cNvPr>
          <p:cNvSpPr txBox="1"/>
          <p:nvPr/>
        </p:nvSpPr>
        <p:spPr>
          <a:xfrm>
            <a:off x="8215826" y="2273022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value</a:t>
            </a:r>
            <a:endParaRPr lang="en-CH" sz="1400" b="1" dirty="0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58445528-0D40-27F7-A786-75337991E548}"/>
              </a:ext>
            </a:extLst>
          </p:cNvPr>
          <p:cNvSpPr txBox="1"/>
          <p:nvPr/>
        </p:nvSpPr>
        <p:spPr>
          <a:xfrm>
            <a:off x="9113120" y="2279553"/>
            <a:ext cx="794963" cy="30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6C71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index</a:t>
            </a:r>
            <a:endParaRPr lang="en-CH" sz="1400" b="1" dirty="0">
              <a:solidFill>
                <a:srgbClr val="6C718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7A6673-2467-F991-F210-0AE3A2E77899}"/>
              </a:ext>
            </a:extLst>
          </p:cNvPr>
          <p:cNvSpPr txBox="1">
            <a:spLocks/>
          </p:cNvSpPr>
          <p:nvPr/>
        </p:nvSpPr>
        <p:spPr>
          <a:xfrm>
            <a:off x="569050" y="365125"/>
            <a:ext cx="11327860" cy="708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sz="2800" dirty="0">
                <a:latin typeface="Arial" panose="020B0604020202020204" pitchFamily="34" charset="0"/>
                <a:cs typeface="Arial" panose="020B0604020202020204" pitchFamily="34" charset="0"/>
              </a:rPr>
              <a:t>c) Progressive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Abstraction</a:t>
            </a:r>
            <a:endParaRPr lang="en-CH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4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 animBg="1"/>
      <p:bldP spid="251" grpId="0" animBg="1"/>
      <p:bldP spid="252" grpId="0" animBg="1"/>
      <p:bldP spid="253" grpId="0" animBg="1"/>
      <p:bldP spid="254" grpId="0"/>
      <p:bldP spid="256" grpId="0"/>
      <p:bldP spid="257" grpId="0"/>
      <p:bldP spid="258" grpId="0" animBg="1"/>
      <p:bldP spid="259" grpId="0" animBg="1"/>
      <p:bldP spid="260" grpId="0" animBg="1"/>
      <p:bldP spid="261" grpId="0" animBg="1"/>
      <p:bldP spid="262" grpId="0" animBg="1"/>
      <p:bldP spid="263" grpId="0"/>
      <p:bldP spid="264" grpId="0" animBg="1"/>
      <p:bldP spid="265" grpId="0"/>
      <p:bldP spid="266" grpId="0" animBg="1"/>
      <p:bldP spid="267" grpId="0" animBg="1"/>
      <p:bldP spid="268" grpId="0"/>
      <p:bldP spid="270" grpId="0" animBg="1"/>
      <p:bldP spid="271" grpId="0" animBg="1"/>
      <p:bldP spid="272" grpId="0" animBg="1"/>
      <p:bldP spid="273" grpId="0"/>
      <p:bldP spid="275" grpId="0"/>
      <p:bldP spid="276" grpId="0"/>
      <p:bldP spid="277" grpId="0" animBg="1"/>
      <p:bldP spid="278" grpId="0" animBg="1"/>
      <p:bldP spid="279" grpId="0" animBg="1"/>
      <p:bldP spid="280" grpId="0" animBg="1"/>
      <p:bldP spid="281" grpId="0" animBg="1"/>
      <p:bldP spid="282" grpId="0"/>
      <p:bldP spid="283" grpId="0" animBg="1"/>
      <p:bldP spid="284" grpId="0"/>
      <p:bldP spid="285" grpId="0" animBg="1"/>
      <p:bldP spid="286" grpId="0" animBg="1"/>
      <p:bldP spid="287" grpId="0"/>
      <p:bldP spid="288" grpId="0" animBg="1"/>
      <p:bldP spid="289" grpId="0"/>
      <p:bldP spid="290" grpId="0"/>
      <p:bldP spid="291" grpId="0"/>
      <p:bldP spid="292" grpId="0" animBg="1"/>
      <p:bldP spid="293" grpId="0"/>
      <p:bldP spid="29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C4F44D6-4EDB-8764-6EB8-D91B5A157BCD}"/>
              </a:ext>
            </a:extLst>
          </p:cNvPr>
          <p:cNvGrpSpPr/>
          <p:nvPr/>
        </p:nvGrpSpPr>
        <p:grpSpPr>
          <a:xfrm>
            <a:off x="2415781" y="1548271"/>
            <a:ext cx="6482590" cy="3761458"/>
            <a:chOff x="1078795" y="1793323"/>
            <a:chExt cx="5673696" cy="3128692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F5A491CB-4ADF-C75A-393B-B9B805ACCB9A}"/>
                </a:ext>
              </a:extLst>
            </p:cNvPr>
            <p:cNvSpPr/>
            <p:nvPr/>
          </p:nvSpPr>
          <p:spPr>
            <a:xfrm>
              <a:off x="3110745" y="1861813"/>
              <a:ext cx="3641746" cy="529466"/>
            </a:xfrm>
            <a:prstGeom prst="roundRect">
              <a:avLst>
                <a:gd name="adj" fmla="val 37122"/>
              </a:avLst>
            </a:prstGeom>
            <a:solidFill>
              <a:srgbClr val="F9FAFB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556E7D-C11B-8293-59DD-EE881AE60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8560" y="2682015"/>
              <a:ext cx="747359" cy="74698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999C9ED-FD8D-6617-DF11-8F20AF96E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021339" y="1793323"/>
              <a:ext cx="893006" cy="312869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DBEFC87-7CA8-D590-F412-D1A223F66833}"/>
                </a:ext>
              </a:extLst>
            </p:cNvPr>
            <p:cNvSpPr txBox="1"/>
            <p:nvPr/>
          </p:nvSpPr>
          <p:spPr>
            <a:xfrm>
              <a:off x="3165098" y="1957269"/>
              <a:ext cx="1392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[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3,1,2]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70A26EA-D88A-7AAA-3C32-420B7D884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78795" y="1848314"/>
              <a:ext cx="757124" cy="756745"/>
            </a:xfrm>
            <a:prstGeom prst="rect">
              <a:avLst/>
            </a:prstGeom>
            <a:solidFill>
              <a:schemeClr val="bg1"/>
            </a:solidFill>
            <a:effectLst/>
          </p:spPr>
        </p:pic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A2D69792-21AE-F0B0-8BEE-2877E60A2930}"/>
                </a:ext>
              </a:extLst>
            </p:cNvPr>
            <p:cNvSpPr/>
            <p:nvPr/>
          </p:nvSpPr>
          <p:spPr>
            <a:xfrm>
              <a:off x="3110745" y="2682015"/>
              <a:ext cx="3641746" cy="530563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E0C39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F72B5C77-FCC3-5FCF-4875-F3417F010D31}"/>
                </a:ext>
              </a:extLst>
            </p:cNvPr>
            <p:cNvSpPr/>
            <p:nvPr/>
          </p:nvSpPr>
          <p:spPr>
            <a:xfrm>
              <a:off x="3078287" y="3484681"/>
              <a:ext cx="3641746" cy="529466"/>
            </a:xfrm>
            <a:prstGeom prst="roundRect">
              <a:avLst>
                <a:gd name="adj" fmla="val 37122"/>
              </a:avLst>
            </a:prstGeom>
            <a:solidFill>
              <a:srgbClr val="FBF5FF"/>
            </a:solidFill>
            <a:ln>
              <a:solidFill>
                <a:srgbClr val="EDDA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4E398FCB-9663-8ED2-5E70-CCCD93E76A23}"/>
                </a:ext>
              </a:extLst>
            </p:cNvPr>
            <p:cNvSpPr/>
            <p:nvPr/>
          </p:nvSpPr>
          <p:spPr>
            <a:xfrm>
              <a:off x="5475199" y="2792063"/>
              <a:ext cx="458197" cy="30901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200" b="1" dirty="0">
                  <a:solidFill>
                    <a:schemeClr val="accent3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True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65C1D9-13ED-24ED-36B7-F337930EE229}"/>
                </a:ext>
              </a:extLst>
            </p:cNvPr>
            <p:cNvSpPr txBox="1"/>
            <p:nvPr/>
          </p:nvSpPr>
          <p:spPr>
            <a:xfrm>
              <a:off x="3110745" y="2760770"/>
              <a:ext cx="246175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BA782F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</a:t>
              </a:r>
              <a:r>
                <a:rPr lang="en-CH" sz="1600" b="1" dirty="0">
                  <a:solidFill>
                    <a:srgbClr val="BA782F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s_bigger(3,1)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333721AF-00BF-601E-5333-34038A46AFE9}"/>
                </a:ext>
              </a:extLst>
            </p:cNvPr>
            <p:cNvSpPr/>
            <p:nvPr/>
          </p:nvSpPr>
          <p:spPr>
            <a:xfrm>
              <a:off x="6012083" y="2792063"/>
              <a:ext cx="598346" cy="30901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200" b="1" dirty="0">
                  <a:solidFill>
                    <a:srgbClr val="6C72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False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F557B1-8057-658E-142B-8F28E9334120}"/>
                </a:ext>
              </a:extLst>
            </p:cNvPr>
            <p:cNvSpPr txBox="1"/>
            <p:nvPr/>
          </p:nvSpPr>
          <p:spPr>
            <a:xfrm>
              <a:off x="3165098" y="3557976"/>
              <a:ext cx="163076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9339E4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swap</a:t>
              </a:r>
              <a:r>
                <a:rPr lang="en-CH" sz="1600" b="1" dirty="0">
                  <a:solidFill>
                    <a:srgbClr val="9339E4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(3,1)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713C11B-218E-D789-7B23-B6C2ED107E06}"/>
                </a:ext>
              </a:extLst>
            </p:cNvPr>
            <p:cNvSpPr/>
            <p:nvPr/>
          </p:nvSpPr>
          <p:spPr>
            <a:xfrm>
              <a:off x="3110745" y="4286250"/>
              <a:ext cx="3641746" cy="529466"/>
            </a:xfrm>
            <a:prstGeom prst="roundRect">
              <a:avLst>
                <a:gd name="adj" fmla="val 37122"/>
              </a:avLst>
            </a:prstGeom>
            <a:solidFill>
              <a:srgbClr val="FFFDE9"/>
            </a:solidFill>
            <a:ln>
              <a:solidFill>
                <a:srgbClr val="EBB3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34AEFF9-7BD8-3DC0-5E2C-A15894781035}"/>
                </a:ext>
              </a:extLst>
            </p:cNvPr>
            <p:cNvSpPr txBox="1"/>
            <p:nvPr/>
          </p:nvSpPr>
          <p:spPr>
            <a:xfrm>
              <a:off x="3014256" y="4337527"/>
              <a:ext cx="163076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[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1,3,2]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AB15771-5D42-B8BE-47F9-94D3C6639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76686" y="4518502"/>
              <a:ext cx="1378828" cy="275997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36878432-F83E-6F55-D419-3886113906C4}"/>
              </a:ext>
            </a:extLst>
          </p:cNvPr>
          <p:cNvSpPr txBox="1">
            <a:spLocks/>
          </p:cNvSpPr>
          <p:nvPr/>
        </p:nvSpPr>
        <p:spPr>
          <a:xfrm>
            <a:off x="569050" y="365125"/>
            <a:ext cx="11327860" cy="708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sz="2800" dirty="0">
                <a:latin typeface="Arial" panose="020B0604020202020204" pitchFamily="34" charset="0"/>
                <a:cs typeface="Arial" panose="020B0604020202020204" pitchFamily="34" charset="0"/>
              </a:rPr>
              <a:t>d) Counterexample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  <a:endParaRPr lang="en-CH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809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134B7-CB56-C827-3F25-35355684B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6BA56A8-4A17-F220-D5D1-89D0EA2C1009}"/>
              </a:ext>
            </a:extLst>
          </p:cNvPr>
          <p:cNvSpPr/>
          <p:nvPr/>
        </p:nvSpPr>
        <p:spPr>
          <a:xfrm>
            <a:off x="4820757" y="4651789"/>
            <a:ext cx="3796067" cy="751787"/>
          </a:xfrm>
          <a:prstGeom prst="roundRect">
            <a:avLst>
              <a:gd name="adj" fmla="val 22495"/>
            </a:avLst>
          </a:prstGeom>
          <a:solidFill>
            <a:srgbClr val="D6D1EC">
              <a:alpha val="215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18FAA4C-570A-A83C-ABBC-2D6B44666661}"/>
              </a:ext>
            </a:extLst>
          </p:cNvPr>
          <p:cNvSpPr/>
          <p:nvPr/>
        </p:nvSpPr>
        <p:spPr>
          <a:xfrm>
            <a:off x="758628" y="3105855"/>
            <a:ext cx="7858196" cy="1484014"/>
          </a:xfrm>
          <a:prstGeom prst="roundRect">
            <a:avLst>
              <a:gd name="adj" fmla="val 7291"/>
            </a:avLst>
          </a:prstGeom>
          <a:solidFill>
            <a:srgbClr val="D6D1EC">
              <a:alpha val="215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EB779A-1228-FE57-06CC-4ED8BAACC1B7}"/>
              </a:ext>
            </a:extLst>
          </p:cNvPr>
          <p:cNvGrpSpPr/>
          <p:nvPr/>
        </p:nvGrpSpPr>
        <p:grpSpPr>
          <a:xfrm>
            <a:off x="569050" y="2379711"/>
            <a:ext cx="3767129" cy="2953903"/>
            <a:chOff x="709663" y="2339763"/>
            <a:chExt cx="3418913" cy="2953903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CACD57E-FE76-3FC8-B790-A5F1B128B23E}"/>
                </a:ext>
              </a:extLst>
            </p:cNvPr>
            <p:cNvSpPr/>
            <p:nvPr/>
          </p:nvSpPr>
          <p:spPr>
            <a:xfrm>
              <a:off x="1018247" y="3159965"/>
              <a:ext cx="3110329" cy="530563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E0C39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1935C76-3682-C745-6FD7-6F3BD391317B}"/>
                </a:ext>
              </a:extLst>
            </p:cNvPr>
            <p:cNvSpPr/>
            <p:nvPr/>
          </p:nvSpPr>
          <p:spPr>
            <a:xfrm>
              <a:off x="990524" y="3962632"/>
              <a:ext cx="3110329" cy="529466"/>
            </a:xfrm>
            <a:prstGeom prst="roundRect">
              <a:avLst>
                <a:gd name="adj" fmla="val 37122"/>
              </a:avLst>
            </a:prstGeom>
            <a:solidFill>
              <a:srgbClr val="FBF5FF"/>
            </a:solidFill>
            <a:ln>
              <a:solidFill>
                <a:srgbClr val="EDDA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84475AD-6A3F-F983-E63F-786E82F45A7E}"/>
                </a:ext>
              </a:extLst>
            </p:cNvPr>
            <p:cNvSpPr/>
            <p:nvPr/>
          </p:nvSpPr>
          <p:spPr>
            <a:xfrm>
              <a:off x="3037671" y="3270013"/>
              <a:ext cx="391335" cy="30901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200" b="1" dirty="0">
                  <a:solidFill>
                    <a:schemeClr val="accent3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True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AB732C-6D83-10B4-01FA-5C015D070E7A}"/>
                </a:ext>
              </a:extLst>
            </p:cNvPr>
            <p:cNvSpPr txBox="1"/>
            <p:nvPr/>
          </p:nvSpPr>
          <p:spPr>
            <a:xfrm>
              <a:off x="1018247" y="3238720"/>
              <a:ext cx="21025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BA782F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</a:t>
              </a:r>
              <a:r>
                <a:rPr lang="en-CH" sz="1600" b="1" dirty="0">
                  <a:solidFill>
                    <a:srgbClr val="BA782F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s_bigger(3,1)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7035DD1-8D50-2DA0-4536-79CAA8677FDF}"/>
                </a:ext>
              </a:extLst>
            </p:cNvPr>
            <p:cNvSpPr/>
            <p:nvPr/>
          </p:nvSpPr>
          <p:spPr>
            <a:xfrm>
              <a:off x="3496211" y="3270013"/>
              <a:ext cx="511033" cy="30901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200" b="1" dirty="0">
                  <a:solidFill>
                    <a:srgbClr val="6C72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False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D75A19-5D87-9813-AD25-CB07B1F7A258}"/>
                </a:ext>
              </a:extLst>
            </p:cNvPr>
            <p:cNvSpPr txBox="1"/>
            <p:nvPr/>
          </p:nvSpPr>
          <p:spPr>
            <a:xfrm>
              <a:off x="1064668" y="4035926"/>
              <a:ext cx="1392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9339E4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swap</a:t>
              </a:r>
              <a:r>
                <a:rPr lang="en-CH" sz="1600" b="1" dirty="0">
                  <a:solidFill>
                    <a:srgbClr val="9339E4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(3,1)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846C978-E6BF-29D9-07C7-9AAC1C94FCF8}"/>
                </a:ext>
              </a:extLst>
            </p:cNvPr>
            <p:cNvSpPr/>
            <p:nvPr/>
          </p:nvSpPr>
          <p:spPr>
            <a:xfrm>
              <a:off x="1018247" y="2339763"/>
              <a:ext cx="3110329" cy="658148"/>
            </a:xfrm>
            <a:prstGeom prst="roundRect">
              <a:avLst>
                <a:gd name="adj" fmla="val 37122"/>
              </a:avLst>
            </a:prstGeom>
            <a:solidFill>
              <a:srgbClr val="F9FAFB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4BAEC6C-3936-6060-8127-FCFE5F3B2B71}"/>
                </a:ext>
              </a:extLst>
            </p:cNvPr>
            <p:cNvSpPr txBox="1"/>
            <p:nvPr/>
          </p:nvSpPr>
          <p:spPr>
            <a:xfrm>
              <a:off x="709663" y="2523718"/>
              <a:ext cx="28484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[  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3,  1,  4  ]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5D324095-EE93-35E0-C3A3-C5304244D2C4}"/>
                </a:ext>
              </a:extLst>
            </p:cNvPr>
            <p:cNvSpPr/>
            <p:nvPr/>
          </p:nvSpPr>
          <p:spPr>
            <a:xfrm>
              <a:off x="1018247" y="4764200"/>
              <a:ext cx="3110329" cy="529466"/>
            </a:xfrm>
            <a:prstGeom prst="roundRect">
              <a:avLst>
                <a:gd name="adj" fmla="val 37122"/>
              </a:avLst>
            </a:prstGeom>
            <a:solidFill>
              <a:srgbClr val="FFFDE9"/>
            </a:solidFill>
            <a:ln>
              <a:solidFill>
                <a:srgbClr val="EBB3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4DCB252-CD44-2E56-A92F-2E00E4F0DED3}"/>
                </a:ext>
              </a:extLst>
            </p:cNvPr>
            <p:cNvSpPr txBox="1"/>
            <p:nvPr/>
          </p:nvSpPr>
          <p:spPr>
            <a:xfrm>
              <a:off x="935839" y="4815477"/>
              <a:ext cx="1392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[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1,3,4]</a:t>
              </a: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2F43E72-9B08-50E1-A8FB-B574DEA5ED96}"/>
              </a:ext>
            </a:extLst>
          </p:cNvPr>
          <p:cNvSpPr txBox="1">
            <a:spLocks/>
          </p:cNvSpPr>
          <p:nvPr/>
        </p:nvSpPr>
        <p:spPr>
          <a:xfrm>
            <a:off x="569050" y="365125"/>
            <a:ext cx="11327860" cy="708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sz="2800" dirty="0">
                <a:latin typeface="Arial" panose="020B0604020202020204" pitchFamily="34" charset="0"/>
                <a:cs typeface="Arial" panose="020B0604020202020204" pitchFamily="34" charset="0"/>
              </a:rPr>
              <a:t>d) Counterexample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  <a:endParaRPr lang="en-CH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992978-AA78-5D70-D313-5EF59492EDDA}"/>
              </a:ext>
            </a:extLst>
          </p:cNvPr>
          <p:cNvGrpSpPr/>
          <p:nvPr/>
        </p:nvGrpSpPr>
        <p:grpSpPr>
          <a:xfrm>
            <a:off x="4820757" y="2344821"/>
            <a:ext cx="3610983" cy="2953904"/>
            <a:chOff x="4504615" y="2310740"/>
            <a:chExt cx="3232120" cy="2953904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55C90A96-1DE1-5870-6C6D-5C4CC2BA56BD}"/>
                </a:ext>
              </a:extLst>
            </p:cNvPr>
            <p:cNvSpPr/>
            <p:nvPr/>
          </p:nvSpPr>
          <p:spPr>
            <a:xfrm>
              <a:off x="4626406" y="3130943"/>
              <a:ext cx="3110329" cy="530563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rgbClr val="E0C39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27E576ED-E3F1-0E06-6738-C051282A8FF3}"/>
                </a:ext>
              </a:extLst>
            </p:cNvPr>
            <p:cNvSpPr/>
            <p:nvPr/>
          </p:nvSpPr>
          <p:spPr>
            <a:xfrm>
              <a:off x="4598684" y="3933609"/>
              <a:ext cx="3110329" cy="529466"/>
            </a:xfrm>
            <a:prstGeom prst="roundRect">
              <a:avLst>
                <a:gd name="adj" fmla="val 37122"/>
              </a:avLst>
            </a:prstGeom>
            <a:solidFill>
              <a:srgbClr val="FBF5FF"/>
            </a:solidFill>
            <a:ln>
              <a:solidFill>
                <a:srgbClr val="EDDA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621C1D39-84BB-CB4B-92D5-D09EC9E5B671}"/>
                </a:ext>
              </a:extLst>
            </p:cNvPr>
            <p:cNvSpPr/>
            <p:nvPr/>
          </p:nvSpPr>
          <p:spPr>
            <a:xfrm>
              <a:off x="6645830" y="3240991"/>
              <a:ext cx="391335" cy="30901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200" b="1" dirty="0">
                  <a:solidFill>
                    <a:schemeClr val="accent3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True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F47AF6B-A3A0-33F8-9115-40C405D0190D}"/>
                </a:ext>
              </a:extLst>
            </p:cNvPr>
            <p:cNvSpPr txBox="1"/>
            <p:nvPr/>
          </p:nvSpPr>
          <p:spPr>
            <a:xfrm>
              <a:off x="4626406" y="3209698"/>
              <a:ext cx="21025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solidFill>
                    <a:srgbClr val="BA782F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</a:t>
              </a:r>
              <a:r>
                <a:rPr lang="en-CH" sz="1600" b="1" dirty="0">
                  <a:solidFill>
                    <a:srgbClr val="BA782F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s_bigger(3,1)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E292F0E-CCDF-27B6-55F6-199953122E5A}"/>
                </a:ext>
              </a:extLst>
            </p:cNvPr>
            <p:cNvSpPr/>
            <p:nvPr/>
          </p:nvSpPr>
          <p:spPr>
            <a:xfrm>
              <a:off x="7104370" y="3240991"/>
              <a:ext cx="511033" cy="309011"/>
            </a:xfrm>
            <a:prstGeom prst="roundRect">
              <a:avLst>
                <a:gd name="adj" fmla="val 32482"/>
              </a:avLst>
            </a:prstGeom>
            <a:solidFill>
              <a:srgbClr val="FFF8ED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CH" sz="1200" b="1" dirty="0">
                  <a:solidFill>
                    <a:srgbClr val="6C72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False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8445E4D-497A-08A5-D2E1-94B9E56E8226}"/>
                </a:ext>
              </a:extLst>
            </p:cNvPr>
            <p:cNvSpPr txBox="1"/>
            <p:nvPr/>
          </p:nvSpPr>
          <p:spPr>
            <a:xfrm>
              <a:off x="4672828" y="4006904"/>
              <a:ext cx="1392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9339E4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swap</a:t>
              </a:r>
              <a:r>
                <a:rPr lang="en-CH" sz="1600" b="1" dirty="0">
                  <a:solidFill>
                    <a:srgbClr val="9339E4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(3,1)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4C3C0017-F4CE-F660-70EF-983825E471CE}"/>
                </a:ext>
              </a:extLst>
            </p:cNvPr>
            <p:cNvSpPr/>
            <p:nvPr/>
          </p:nvSpPr>
          <p:spPr>
            <a:xfrm>
              <a:off x="4626406" y="2310740"/>
              <a:ext cx="3110329" cy="657745"/>
            </a:xfrm>
            <a:prstGeom prst="roundRect">
              <a:avLst>
                <a:gd name="adj" fmla="val 37122"/>
              </a:avLst>
            </a:prstGeom>
            <a:solidFill>
              <a:srgbClr val="F9FAFB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F211D17-CD89-60E5-4F3B-DD096C32BC32}"/>
                </a:ext>
              </a:extLst>
            </p:cNvPr>
            <p:cNvSpPr txBox="1"/>
            <p:nvPr/>
          </p:nvSpPr>
          <p:spPr>
            <a:xfrm>
              <a:off x="4504615" y="2513015"/>
              <a:ext cx="24502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[  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3,  </a:t>
              </a:r>
              <a:r>
                <a:rPr lang="en-US" altLang="zh-CN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,  </a:t>
              </a:r>
              <a:r>
                <a:rPr lang="en-US" altLang="zh-CN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2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 ]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7F6ECE4A-DE8D-7027-5C5B-EBF899249265}"/>
                </a:ext>
              </a:extLst>
            </p:cNvPr>
            <p:cNvSpPr/>
            <p:nvPr/>
          </p:nvSpPr>
          <p:spPr>
            <a:xfrm>
              <a:off x="4626406" y="4735178"/>
              <a:ext cx="3110329" cy="529466"/>
            </a:xfrm>
            <a:prstGeom prst="roundRect">
              <a:avLst>
                <a:gd name="adj" fmla="val 37122"/>
              </a:avLst>
            </a:prstGeom>
            <a:solidFill>
              <a:srgbClr val="FFFDE9"/>
            </a:solidFill>
            <a:ln>
              <a:solidFill>
                <a:srgbClr val="EBB3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sz="2800" b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4B6E051-27CE-AF03-6BCF-1A50912830C2}"/>
                </a:ext>
              </a:extLst>
            </p:cNvPr>
            <p:cNvSpPr txBox="1"/>
            <p:nvPr/>
          </p:nvSpPr>
          <p:spPr>
            <a:xfrm>
              <a:off x="4543997" y="4786455"/>
              <a:ext cx="13928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[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1,3,</a:t>
              </a:r>
              <a:r>
                <a:rPr lang="en-CH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2</a:t>
              </a:r>
              <a:r>
                <a:rPr lang="en-CH" sz="1600" b="1" dirty="0">
                  <a:solidFill>
                    <a:srgbClr val="6C7180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]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162011E-0ACB-0B69-1648-540523E47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49" y="1303716"/>
            <a:ext cx="853909" cy="898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F9CA60-E739-1A80-44C3-323E0B334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8659" y="1303716"/>
            <a:ext cx="865067" cy="909794"/>
          </a:xfrm>
          <a:prstGeom prst="rect">
            <a:avLst/>
          </a:prstGeom>
          <a:solidFill>
            <a:schemeClr val="bg1"/>
          </a:solidFill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19A7A3-FD42-AB07-ECD7-2C5FA168A6D6}"/>
              </a:ext>
            </a:extLst>
          </p:cNvPr>
          <p:cNvSpPr txBox="1"/>
          <p:nvPr/>
        </p:nvSpPr>
        <p:spPr>
          <a:xfrm>
            <a:off x="3199133" y="4955927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600" b="1" dirty="0">
                <a:solidFill>
                  <a:srgbClr val="D5A14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Current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94DFA-EEA5-6397-3F46-CFCFF5994C89}"/>
              </a:ext>
            </a:extLst>
          </p:cNvPr>
          <p:cNvSpPr txBox="1"/>
          <p:nvPr/>
        </p:nvSpPr>
        <p:spPr>
          <a:xfrm>
            <a:off x="7305802" y="4920771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1600" b="1" dirty="0">
                <a:solidFill>
                  <a:srgbClr val="D5A14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Current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892B78-D49D-F78D-AEE1-66291D9FBAD0}"/>
              </a:ext>
            </a:extLst>
          </p:cNvPr>
          <p:cNvSpPr txBox="1"/>
          <p:nvPr/>
        </p:nvSpPr>
        <p:spPr>
          <a:xfrm>
            <a:off x="6096000" y="1709530"/>
            <a:ext cx="1847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Counterexample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425A73-8E65-56C3-290B-D66855C35CBE}"/>
              </a:ext>
            </a:extLst>
          </p:cNvPr>
          <p:cNvSpPr txBox="1"/>
          <p:nvPr/>
        </p:nvSpPr>
        <p:spPr>
          <a:xfrm>
            <a:off x="1951651" y="1742613"/>
            <a:ext cx="193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</a:t>
            </a:r>
            <a:r>
              <a:rPr lang="en-CH" dirty="0"/>
              <a:t>revious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  <a:endParaRPr lang="en-CH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97B63-ED3B-497F-26A6-DD08549E0435}"/>
              </a:ext>
            </a:extLst>
          </p:cNvPr>
          <p:cNvSpPr txBox="1"/>
          <p:nvPr/>
        </p:nvSpPr>
        <p:spPr>
          <a:xfrm>
            <a:off x="9127267" y="1709530"/>
            <a:ext cx="2769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Required Properties</a:t>
            </a:r>
            <a:endParaRPr lang="en-CH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5356CC-3D09-A15B-3D1E-90A87417B49F}"/>
              </a:ext>
            </a:extLst>
          </p:cNvPr>
          <p:cNvSpPr txBox="1"/>
          <p:nvPr/>
        </p:nvSpPr>
        <p:spPr>
          <a:xfrm>
            <a:off x="9127266" y="3357849"/>
            <a:ext cx="24956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1"/>
                </a:solidFill>
              </a:rPr>
              <a:t>All of the student’s previous steps are still valid.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C8A487-C8F4-60BB-C3BD-685743A98B67}"/>
              </a:ext>
            </a:extLst>
          </p:cNvPr>
          <p:cNvSpPr txBox="1"/>
          <p:nvPr/>
        </p:nvSpPr>
        <p:spPr>
          <a:xfrm>
            <a:off x="9127266" y="4487331"/>
            <a:ext cx="27696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tx1"/>
                </a:solidFill>
              </a:rPr>
              <a:t>On the new example, additional steps are required.</a:t>
            </a:r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C46E8E-B744-95E3-F228-9468822A3614}"/>
              </a:ext>
            </a:extLst>
          </p:cNvPr>
          <p:cNvCxnSpPr/>
          <p:nvPr/>
        </p:nvCxnSpPr>
        <p:spPr>
          <a:xfrm>
            <a:off x="8616824" y="3967690"/>
            <a:ext cx="510442" cy="0"/>
          </a:xfrm>
          <a:prstGeom prst="straightConnector1">
            <a:avLst/>
          </a:prstGeom>
          <a:ln>
            <a:solidFill>
              <a:srgbClr val="9686B9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D90C542-D5AE-D3FD-C988-8D8C64A42DA9}"/>
              </a:ext>
            </a:extLst>
          </p:cNvPr>
          <p:cNvCxnSpPr/>
          <p:nvPr/>
        </p:nvCxnSpPr>
        <p:spPr>
          <a:xfrm>
            <a:off x="8616824" y="4971850"/>
            <a:ext cx="510442" cy="0"/>
          </a:xfrm>
          <a:prstGeom prst="straightConnector1">
            <a:avLst/>
          </a:prstGeom>
          <a:ln>
            <a:solidFill>
              <a:srgbClr val="9686B9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ight Arrow 34">
            <a:extLst>
              <a:ext uri="{FF2B5EF4-FFF2-40B4-BE49-F238E27FC236}">
                <a16:creationId xmlns:a16="http://schemas.microsoft.com/office/drawing/2014/main" id="{0C6FC4B3-6ACA-355B-907D-61A1A58F806E}"/>
              </a:ext>
            </a:extLst>
          </p:cNvPr>
          <p:cNvSpPr/>
          <p:nvPr/>
        </p:nvSpPr>
        <p:spPr>
          <a:xfrm>
            <a:off x="4247818" y="1709530"/>
            <a:ext cx="409242" cy="402415"/>
          </a:xfrm>
          <a:prstGeom prst="rightArrow">
            <a:avLst/>
          </a:prstGeom>
          <a:solidFill>
            <a:srgbClr val="D6D1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8199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 animBg="1"/>
      <p:bldP spid="9" grpId="0"/>
      <p:bldP spid="10" grpId="0"/>
      <p:bldP spid="18" grpId="0"/>
      <p:bldP spid="19" grpId="0"/>
      <p:bldP spid="21" grpId="0"/>
      <p:bldP spid="23" grpId="0"/>
      <p:bldP spid="29" grpId="0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76A9DB-64D9-DB89-9444-7D2372EE03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" t="187" b="576"/>
          <a:stretch>
            <a:fillRect/>
          </a:stretch>
        </p:blipFill>
        <p:spPr>
          <a:xfrm>
            <a:off x="569050" y="1740216"/>
            <a:ext cx="11053899" cy="4296804"/>
          </a:xfrm>
          <a:prstGeom prst="rect">
            <a:avLst/>
          </a:prstGeom>
          <a:effectLst>
            <a:outerShdw blurRad="802325" sx="61000" sy="61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3DC942D-ADB6-DE38-AE0E-9E128B98C150}"/>
              </a:ext>
            </a:extLst>
          </p:cNvPr>
          <p:cNvSpPr txBox="1">
            <a:spLocks/>
          </p:cNvSpPr>
          <p:nvPr/>
        </p:nvSpPr>
        <p:spPr>
          <a:xfrm>
            <a:off x="699751" y="681832"/>
            <a:ext cx="10792496" cy="586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/>
              <a:t>Supporting Algorithmic Reasoning through Executable Sketching</a:t>
            </a:r>
            <a:endParaRPr lang="en-CH" sz="3200" dirty="0"/>
          </a:p>
        </p:txBody>
      </p:sp>
    </p:spTree>
    <p:extLst>
      <p:ext uri="{BB962C8B-B14F-4D97-AF65-F5344CB8AC3E}">
        <p14:creationId xmlns:p14="http://schemas.microsoft.com/office/powerpoint/2010/main" val="2710014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BC7BA-238A-7959-488B-F4410B412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3701B5-6A41-B75D-0E9E-AF05CE3B0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82C715-6727-E46D-C408-C0DF2C1485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997" y="1766401"/>
            <a:ext cx="7158035" cy="39951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9AE26D-ECA4-AD3A-5070-336E5FC1E02F}"/>
              </a:ext>
            </a:extLst>
          </p:cNvPr>
          <p:cNvSpPr txBox="1"/>
          <p:nvPr/>
        </p:nvSpPr>
        <p:spPr>
          <a:xfrm>
            <a:off x="436997" y="911750"/>
            <a:ext cx="97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[Visual: Alice scribbling on paper, messy arrays, crossed-out numbers accumulating]</a:t>
            </a:r>
            <a:endParaRPr lang="en-C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7C140-78F5-53A1-ECAD-989A771C6A66}"/>
              </a:ext>
            </a:extLst>
          </p:cNvPr>
          <p:cNvSpPr txBox="1"/>
          <p:nvPr/>
        </p:nvSpPr>
        <p:spPr>
          <a:xfrm>
            <a:off x="436997" y="4520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b="1" dirty="0"/>
              <a:t>[0:00-1:30] </a:t>
            </a:r>
            <a:r>
              <a:rPr lang="en-GB" b="1" dirty="0"/>
              <a:t>Motivation example</a:t>
            </a:r>
            <a:r>
              <a:rPr lang="zh-CN" altLang="en-US" b="1" dirty="0"/>
              <a:t> </a:t>
            </a:r>
            <a:r>
              <a:rPr lang="en-US" altLang="zh-CN" b="1" dirty="0"/>
              <a:t>(total 90’)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F91B4-207D-4049-EBD7-59ED95BDA3D4}"/>
              </a:ext>
            </a:extLst>
          </p:cNvPr>
          <p:cNvSpPr txBox="1"/>
          <p:nvPr/>
        </p:nvSpPr>
        <p:spPr>
          <a:xfrm>
            <a:off x="7879976" y="3765176"/>
            <a:ext cx="232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Draw in a blank paper</a:t>
            </a:r>
          </a:p>
        </p:txBody>
      </p:sp>
    </p:spTree>
    <p:extLst>
      <p:ext uri="{BB962C8B-B14F-4D97-AF65-F5344CB8AC3E}">
        <p14:creationId xmlns:p14="http://schemas.microsoft.com/office/powerpoint/2010/main" val="2095256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43043-9FC5-1817-C08B-848B341D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017702-5301-469F-E954-A9B23318E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5AC998-2EF1-0FE4-4854-AE5D43D28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997" y="1766401"/>
            <a:ext cx="7158035" cy="39951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89E993-ADC1-A528-4CB5-E19B1D48C6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19" t="9970" r="57034" b="31425"/>
          <a:stretch>
            <a:fillRect/>
          </a:stretch>
        </p:blipFill>
        <p:spPr>
          <a:xfrm>
            <a:off x="8030504" y="821417"/>
            <a:ext cx="2002137" cy="5185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CED371-F973-3FCA-E85A-80D5B5FCD941}"/>
              </a:ext>
            </a:extLst>
          </p:cNvPr>
          <p:cNvSpPr txBox="1"/>
          <p:nvPr/>
        </p:nvSpPr>
        <p:spPr>
          <a:xfrm>
            <a:off x="436997" y="4520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Challenge</a:t>
            </a:r>
            <a:r>
              <a:rPr lang="zh-CN" altLang="en-US" b="1" dirty="0"/>
              <a:t> </a:t>
            </a:r>
            <a:r>
              <a:rPr lang="en-US" altLang="zh-CN" b="1" dirty="0"/>
              <a:t>1</a:t>
            </a:r>
            <a:r>
              <a:rPr lang="en-GB" b="1" dirty="0"/>
              <a:t>: Trace Explosion</a:t>
            </a:r>
            <a:r>
              <a:rPr lang="zh-CN" altLang="en-US" b="1" dirty="0"/>
              <a:t> </a:t>
            </a:r>
            <a:r>
              <a:rPr lang="en-US" altLang="zh-CN" b="1" dirty="0"/>
              <a:t>20-30</a:t>
            </a:r>
            <a:r>
              <a:rPr lang="zh-CN" altLang="en-US" b="1" dirty="0"/>
              <a:t>‘</a:t>
            </a:r>
            <a:endParaRPr lang="en-CH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A0AD9A-0664-8058-7731-79A62099AF19}"/>
              </a:ext>
            </a:extLst>
          </p:cNvPr>
          <p:cNvSpPr txBox="1"/>
          <p:nvPr/>
        </p:nvSpPr>
        <p:spPr>
          <a:xfrm>
            <a:off x="436997" y="911750"/>
            <a:ext cx="97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[Visual: paper becomes increasingly cluttered]</a:t>
            </a:r>
            <a:endParaRPr lang="en-CH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4B17AA8-B804-D4B6-99A9-AB0379365C86}"/>
              </a:ext>
            </a:extLst>
          </p:cNvPr>
          <p:cNvSpPr/>
          <p:nvPr/>
        </p:nvSpPr>
        <p:spPr>
          <a:xfrm rot="10800000">
            <a:off x="7666128" y="3266450"/>
            <a:ext cx="563472" cy="49754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33614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4411AD-24C4-2536-BA15-969B86BDB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259B45-C1FE-1782-28DB-7E5DE45741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997" y="2092659"/>
            <a:ext cx="7158035" cy="39951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16447E-9CD5-3197-613A-22C41416DC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19" t="9970" r="57034" b="31425"/>
          <a:stretch>
            <a:fillRect/>
          </a:stretch>
        </p:blipFill>
        <p:spPr>
          <a:xfrm>
            <a:off x="8030504" y="821417"/>
            <a:ext cx="2002137" cy="5185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949204-50D4-76E8-1138-3D1763154E7E}"/>
              </a:ext>
            </a:extLst>
          </p:cNvPr>
          <p:cNvSpPr txBox="1"/>
          <p:nvPr/>
        </p:nvSpPr>
        <p:spPr>
          <a:xfrm>
            <a:off x="436997" y="4520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Challenge</a:t>
            </a:r>
            <a:r>
              <a:rPr lang="zh-CN" altLang="en-US" b="1" dirty="0"/>
              <a:t> </a:t>
            </a:r>
            <a:r>
              <a:rPr lang="en-GB" b="1" dirty="0"/>
              <a:t>2: Abstraction Leap</a:t>
            </a:r>
            <a:r>
              <a:rPr lang="zh-CN" altLang="en-US" b="1" dirty="0"/>
              <a:t> </a:t>
            </a:r>
            <a:r>
              <a:rPr lang="en-US" altLang="zh-CN" b="1" dirty="0"/>
              <a:t>20-30</a:t>
            </a:r>
            <a:r>
              <a:rPr lang="zh-CN" altLang="en-US" b="1" dirty="0"/>
              <a:t>‘</a:t>
            </a:r>
            <a:endParaRPr lang="en-CH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82DC20-E0F6-9F21-4B99-F102DA1DC208}"/>
              </a:ext>
            </a:extLst>
          </p:cNvPr>
          <p:cNvSpPr txBox="1"/>
          <p:nvPr/>
        </p:nvSpPr>
        <p:spPr>
          <a:xfrm>
            <a:off x="436997" y="911750"/>
            <a:ext cx="7456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[Visual: Alice pauses, staring at a wall of numbers. </a:t>
            </a:r>
          </a:p>
          <a:p>
            <a:r>
              <a:rPr lang="en-GB" dirty="0"/>
              <a:t>She tries to draw a bracket or an arrow to show a "pattern," but her pen just hovers. The page is just lines of digits with no clear structure or logic.]</a:t>
            </a:r>
            <a:endParaRPr lang="en-CH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E0FE34E9-9157-A833-8AD5-8464ABAE25E9}"/>
              </a:ext>
            </a:extLst>
          </p:cNvPr>
          <p:cNvSpPr/>
          <p:nvPr/>
        </p:nvSpPr>
        <p:spPr>
          <a:xfrm rot="10800000">
            <a:off x="7666128" y="3266450"/>
            <a:ext cx="563472" cy="49754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39673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89179D-B7FF-CEAD-B0B1-2BBB6B57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4F3F77-252F-2D9C-9BA5-51969C6B41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997" y="1766401"/>
            <a:ext cx="7158035" cy="39951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B74902-8622-3BF1-F4E2-8866A85701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19" t="9970" r="57034" b="31425"/>
          <a:stretch>
            <a:fillRect/>
          </a:stretch>
        </p:blipFill>
        <p:spPr>
          <a:xfrm>
            <a:off x="8030504" y="821417"/>
            <a:ext cx="2002137" cy="5185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2E72FD-F202-3C09-4C74-9473D7157F4C}"/>
              </a:ext>
            </a:extLst>
          </p:cNvPr>
          <p:cNvSpPr txBox="1"/>
          <p:nvPr/>
        </p:nvSpPr>
        <p:spPr>
          <a:xfrm>
            <a:off x="436997" y="4520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Challenge</a:t>
            </a:r>
            <a:r>
              <a:rPr lang="zh-CN" altLang="en-US" b="1" dirty="0"/>
              <a:t> </a:t>
            </a:r>
            <a:r>
              <a:rPr lang="en-GB" b="1" dirty="0"/>
              <a:t>3: Instance Overfitting</a:t>
            </a:r>
            <a:r>
              <a:rPr lang="zh-CN" altLang="en-US" b="1" dirty="0"/>
              <a:t> </a:t>
            </a:r>
            <a:r>
              <a:rPr lang="en-US" altLang="zh-CN" b="1" dirty="0"/>
              <a:t>20-30</a:t>
            </a:r>
            <a:r>
              <a:rPr lang="zh-CN" altLang="en-US" b="1" dirty="0"/>
              <a:t>‘</a:t>
            </a:r>
            <a:endParaRPr lang="en-CH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8A701-BF69-9EC5-EB82-D21170DC9044}"/>
              </a:ext>
            </a:extLst>
          </p:cNvPr>
          <p:cNvSpPr txBox="1"/>
          <p:nvPr/>
        </p:nvSpPr>
        <p:spPr>
          <a:xfrm>
            <a:off x="436997" y="911750"/>
            <a:ext cx="56590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[Visual: Alice finishes one pass. The array looks sorted. </a:t>
            </a:r>
          </a:p>
          <a:p>
            <a:r>
              <a:rPr lang="en-GB" dirty="0"/>
              <a:t>She draws a large checkmark.]</a:t>
            </a:r>
            <a:endParaRPr lang="en-CH" dirty="0"/>
          </a:p>
        </p:txBody>
      </p:sp>
      <p:pic>
        <p:nvPicPr>
          <p:cNvPr id="4" name="Picture 3" descr="A close-up of a test&#10;&#10;AI-generated content may be incorrect.">
            <a:extLst>
              <a:ext uri="{FF2B5EF4-FFF2-40B4-BE49-F238E27FC236}">
                <a16:creationId xmlns:a16="http://schemas.microsoft.com/office/drawing/2014/main" id="{FE0BBA68-146C-9E54-BF81-83F9D6BF62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96" b="11629"/>
          <a:stretch>
            <a:fillRect/>
          </a:stretch>
        </p:blipFill>
        <p:spPr>
          <a:xfrm>
            <a:off x="218689" y="420157"/>
            <a:ext cx="5697923" cy="6980103"/>
          </a:xfrm>
          <a:prstGeom prst="rect">
            <a:avLst/>
          </a:prstGeom>
        </p:spPr>
      </p:pic>
      <p:pic>
        <p:nvPicPr>
          <p:cNvPr id="5" name="Picture 4" descr="A close-up of a test&#10;&#10;AI-generated content may be incorrect.">
            <a:extLst>
              <a:ext uri="{FF2B5EF4-FFF2-40B4-BE49-F238E27FC236}">
                <a16:creationId xmlns:a16="http://schemas.microsoft.com/office/drawing/2014/main" id="{EFE5383B-8115-AD51-5B6F-CF0EDEFA60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25" t="8988" r="12439" b="5319"/>
          <a:stretch>
            <a:fillRect/>
          </a:stretch>
        </p:blipFill>
        <p:spPr>
          <a:xfrm>
            <a:off x="6218872" y="420157"/>
            <a:ext cx="4905088" cy="721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43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68B00A-9F10-BBF3-BD7E-4C295F907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E1F624C8-DE1E-81AD-B67B-0BE60BF0863F}"/>
              </a:ext>
            </a:extLst>
          </p:cNvPr>
          <p:cNvSpPr/>
          <p:nvPr/>
        </p:nvSpPr>
        <p:spPr>
          <a:xfrm>
            <a:off x="10137593" y="3874474"/>
            <a:ext cx="146027" cy="184673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46737"/>
                </a:lnTo>
                <a:lnTo>
                  <a:pt x="146027" y="184673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4D97F44-A831-C2C3-080D-BF2A1B130BEC}"/>
              </a:ext>
            </a:extLst>
          </p:cNvPr>
          <p:cNvSpPr/>
          <p:nvPr/>
        </p:nvSpPr>
        <p:spPr>
          <a:xfrm>
            <a:off x="10137593" y="3874474"/>
            <a:ext cx="146027" cy="72606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726067"/>
                </a:lnTo>
                <a:lnTo>
                  <a:pt x="146027" y="7260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F5ADCE-46D8-0875-9141-78C6F5924B60}"/>
              </a:ext>
            </a:extLst>
          </p:cNvPr>
          <p:cNvSpPr/>
          <p:nvPr/>
        </p:nvSpPr>
        <p:spPr>
          <a:xfrm>
            <a:off x="10723237" y="2753804"/>
            <a:ext cx="91440" cy="3314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33146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CC7BAEBD-E89C-804F-34C9-A91BB85FFF3F}"/>
              </a:ext>
            </a:extLst>
          </p:cNvPr>
          <p:cNvSpPr/>
          <p:nvPr/>
        </p:nvSpPr>
        <p:spPr>
          <a:xfrm>
            <a:off x="6882442" y="1524689"/>
            <a:ext cx="3886515" cy="43991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4177"/>
                </a:lnTo>
                <a:lnTo>
                  <a:pt x="3886515" y="274177"/>
                </a:lnTo>
                <a:lnTo>
                  <a:pt x="3886515" y="43991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18594C07-D6DB-9730-33FD-5C49293117C7}"/>
              </a:ext>
            </a:extLst>
          </p:cNvPr>
          <p:cNvSpPr/>
          <p:nvPr/>
        </p:nvSpPr>
        <p:spPr>
          <a:xfrm>
            <a:off x="8132146" y="3874474"/>
            <a:ext cx="236761" cy="184673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46737"/>
                </a:lnTo>
                <a:lnTo>
                  <a:pt x="236761" y="184673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1215E43-30F6-05E5-0899-A29665C503EE}"/>
              </a:ext>
            </a:extLst>
          </p:cNvPr>
          <p:cNvSpPr/>
          <p:nvPr/>
        </p:nvSpPr>
        <p:spPr>
          <a:xfrm>
            <a:off x="8132146" y="3874474"/>
            <a:ext cx="236761" cy="72606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726067"/>
                </a:lnTo>
                <a:lnTo>
                  <a:pt x="236761" y="7260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7862304-D53B-7FD8-D3AE-919FE4C5EC38}"/>
              </a:ext>
            </a:extLst>
          </p:cNvPr>
          <p:cNvSpPr/>
          <p:nvPr/>
        </p:nvSpPr>
        <p:spPr>
          <a:xfrm>
            <a:off x="7808573" y="2753804"/>
            <a:ext cx="954937" cy="3314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5732"/>
                </a:lnTo>
                <a:lnTo>
                  <a:pt x="954937" y="165732"/>
                </a:lnTo>
                <a:lnTo>
                  <a:pt x="954937" y="33146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1771429-56FA-AEE1-FAF1-4CA9315F4C37}"/>
              </a:ext>
            </a:extLst>
          </p:cNvPr>
          <p:cNvSpPr/>
          <p:nvPr/>
        </p:nvSpPr>
        <p:spPr>
          <a:xfrm>
            <a:off x="6222272" y="3874474"/>
            <a:ext cx="236761" cy="184673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46737"/>
                </a:lnTo>
                <a:lnTo>
                  <a:pt x="236761" y="184673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A1DAEE43-7564-09A7-C93C-3706170C6238}"/>
              </a:ext>
            </a:extLst>
          </p:cNvPr>
          <p:cNvSpPr/>
          <p:nvPr/>
        </p:nvSpPr>
        <p:spPr>
          <a:xfrm>
            <a:off x="6222272" y="3874474"/>
            <a:ext cx="236761" cy="72606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726067"/>
                </a:lnTo>
                <a:lnTo>
                  <a:pt x="236761" y="7260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794F2BF0-2B67-A7E1-8688-74232F672215}"/>
              </a:ext>
            </a:extLst>
          </p:cNvPr>
          <p:cNvSpPr/>
          <p:nvPr/>
        </p:nvSpPr>
        <p:spPr>
          <a:xfrm>
            <a:off x="6853636" y="2753804"/>
            <a:ext cx="954937" cy="3314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954937" y="0"/>
                </a:moveTo>
                <a:lnTo>
                  <a:pt x="954937" y="165732"/>
                </a:lnTo>
                <a:lnTo>
                  <a:pt x="0" y="165732"/>
                </a:lnTo>
                <a:lnTo>
                  <a:pt x="0" y="33146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63C9E71B-BA59-93D1-76D7-B821361A5C68}"/>
              </a:ext>
            </a:extLst>
          </p:cNvPr>
          <p:cNvSpPr/>
          <p:nvPr/>
        </p:nvSpPr>
        <p:spPr>
          <a:xfrm>
            <a:off x="6882442" y="1524689"/>
            <a:ext cx="926131" cy="43991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4177"/>
                </a:lnTo>
                <a:lnTo>
                  <a:pt x="926131" y="274177"/>
                </a:lnTo>
                <a:lnTo>
                  <a:pt x="926131" y="43991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5ED480C-D950-2738-7C1C-6DA8EF98BE5F}"/>
              </a:ext>
            </a:extLst>
          </p:cNvPr>
          <p:cNvSpPr/>
          <p:nvPr/>
        </p:nvSpPr>
        <p:spPr>
          <a:xfrm>
            <a:off x="4312398" y="3874474"/>
            <a:ext cx="236761" cy="184673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46737"/>
                </a:lnTo>
                <a:lnTo>
                  <a:pt x="236761" y="184673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6FB744E9-4467-0767-FEB3-D98FF3472262}"/>
              </a:ext>
            </a:extLst>
          </p:cNvPr>
          <p:cNvSpPr/>
          <p:nvPr/>
        </p:nvSpPr>
        <p:spPr>
          <a:xfrm>
            <a:off x="4312398" y="3874474"/>
            <a:ext cx="236761" cy="72606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726067"/>
                </a:lnTo>
                <a:lnTo>
                  <a:pt x="236761" y="7260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E50D11BF-A59C-3F40-7F73-63A3C61E12E3}"/>
              </a:ext>
            </a:extLst>
          </p:cNvPr>
          <p:cNvSpPr/>
          <p:nvPr/>
        </p:nvSpPr>
        <p:spPr>
          <a:xfrm>
            <a:off x="3033887" y="2753804"/>
            <a:ext cx="1909874" cy="3314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5732"/>
                </a:lnTo>
                <a:lnTo>
                  <a:pt x="1909874" y="165732"/>
                </a:lnTo>
                <a:lnTo>
                  <a:pt x="1909874" y="33146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E0459081-D229-4FAF-9236-6F6F7D7A8F76}"/>
              </a:ext>
            </a:extLst>
          </p:cNvPr>
          <p:cNvSpPr/>
          <p:nvPr/>
        </p:nvSpPr>
        <p:spPr>
          <a:xfrm>
            <a:off x="2402524" y="3874474"/>
            <a:ext cx="236761" cy="184673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46737"/>
                </a:lnTo>
                <a:lnTo>
                  <a:pt x="236761" y="184673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6935CAA1-615E-0D98-5531-FF8E1CE42B0B}"/>
              </a:ext>
            </a:extLst>
          </p:cNvPr>
          <p:cNvSpPr/>
          <p:nvPr/>
        </p:nvSpPr>
        <p:spPr>
          <a:xfrm>
            <a:off x="2402524" y="3874474"/>
            <a:ext cx="236761" cy="72606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726067"/>
                </a:lnTo>
                <a:lnTo>
                  <a:pt x="236761" y="7260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BA4B2902-23C7-2370-8632-F9490B2E7738}"/>
              </a:ext>
            </a:extLst>
          </p:cNvPr>
          <p:cNvSpPr/>
          <p:nvPr/>
        </p:nvSpPr>
        <p:spPr>
          <a:xfrm>
            <a:off x="2988167" y="2753804"/>
            <a:ext cx="91440" cy="3314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33146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AF1B1C1B-6F53-F1A3-0B57-48BE202B79BF}"/>
              </a:ext>
            </a:extLst>
          </p:cNvPr>
          <p:cNvSpPr/>
          <p:nvPr/>
        </p:nvSpPr>
        <p:spPr>
          <a:xfrm>
            <a:off x="492649" y="3874474"/>
            <a:ext cx="236761" cy="184673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46737"/>
                </a:lnTo>
                <a:lnTo>
                  <a:pt x="236761" y="184673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1B9CE24-A956-D28C-E7B3-FA416A18A2A2}"/>
              </a:ext>
            </a:extLst>
          </p:cNvPr>
          <p:cNvSpPr/>
          <p:nvPr/>
        </p:nvSpPr>
        <p:spPr>
          <a:xfrm>
            <a:off x="492649" y="3874474"/>
            <a:ext cx="236761" cy="72606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726067"/>
                </a:lnTo>
                <a:lnTo>
                  <a:pt x="236761" y="72606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67AB97E5-2CFD-205F-522A-CFC525F19270}"/>
              </a:ext>
            </a:extLst>
          </p:cNvPr>
          <p:cNvSpPr/>
          <p:nvPr/>
        </p:nvSpPr>
        <p:spPr>
          <a:xfrm>
            <a:off x="1124013" y="2753804"/>
            <a:ext cx="1909874" cy="3314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909874" y="0"/>
                </a:moveTo>
                <a:lnTo>
                  <a:pt x="1909874" y="165732"/>
                </a:lnTo>
                <a:lnTo>
                  <a:pt x="0" y="165732"/>
                </a:lnTo>
                <a:lnTo>
                  <a:pt x="0" y="331465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86E5738F-6E74-BEF8-F593-BBA90FE035E8}"/>
              </a:ext>
            </a:extLst>
          </p:cNvPr>
          <p:cNvSpPr/>
          <p:nvPr/>
        </p:nvSpPr>
        <p:spPr>
          <a:xfrm>
            <a:off x="3033887" y="1524689"/>
            <a:ext cx="3848554" cy="43991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848554" y="0"/>
                </a:moveTo>
                <a:lnTo>
                  <a:pt x="3848554" y="274177"/>
                </a:lnTo>
                <a:lnTo>
                  <a:pt x="0" y="274177"/>
                </a:lnTo>
                <a:lnTo>
                  <a:pt x="0" y="43991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H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479B34F2-0840-D111-23CD-90B2F6E299E5}"/>
              </a:ext>
            </a:extLst>
          </p:cNvPr>
          <p:cNvSpPr/>
          <p:nvPr/>
        </p:nvSpPr>
        <p:spPr>
          <a:xfrm>
            <a:off x="5921855" y="742185"/>
            <a:ext cx="1883829" cy="782503"/>
          </a:xfrm>
          <a:custGeom>
            <a:avLst/>
            <a:gdLst>
              <a:gd name="connsiteX0" fmla="*/ 0 w 2540432"/>
              <a:gd name="connsiteY0" fmla="*/ 521222 h 1042444"/>
              <a:gd name="connsiteX1" fmla="*/ 1270216 w 2540432"/>
              <a:gd name="connsiteY1" fmla="*/ 0 h 1042444"/>
              <a:gd name="connsiteX2" fmla="*/ 2540432 w 2540432"/>
              <a:gd name="connsiteY2" fmla="*/ 521222 h 1042444"/>
              <a:gd name="connsiteX3" fmla="*/ 1270216 w 2540432"/>
              <a:gd name="connsiteY3" fmla="*/ 1042444 h 1042444"/>
              <a:gd name="connsiteX4" fmla="*/ 0 w 2540432"/>
              <a:gd name="connsiteY4" fmla="*/ 521222 h 104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0432" h="1042444">
                <a:moveTo>
                  <a:pt x="0" y="521222"/>
                </a:moveTo>
                <a:cubicBezTo>
                  <a:pt x="0" y="233359"/>
                  <a:pt x="568695" y="0"/>
                  <a:pt x="1270216" y="0"/>
                </a:cubicBezTo>
                <a:cubicBezTo>
                  <a:pt x="1971737" y="0"/>
                  <a:pt x="2540432" y="233359"/>
                  <a:pt x="2540432" y="521222"/>
                </a:cubicBezTo>
                <a:cubicBezTo>
                  <a:pt x="2540432" y="809085"/>
                  <a:pt x="1971737" y="1042444"/>
                  <a:pt x="1270216" y="1042444"/>
                </a:cubicBezTo>
                <a:cubicBezTo>
                  <a:pt x="568695" y="1042444"/>
                  <a:pt x="0" y="809085"/>
                  <a:pt x="0" y="52122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80928" tIns="161552" rIns="380928" bIns="161552" numCol="1" spcCol="1270" anchor="ctr" anchorCtr="0">
            <a:noAutofit/>
          </a:bodyPr>
          <a:lstStyle/>
          <a:p>
            <a:pPr marL="0" lvl="0" indent="0" algn="ctr" defTabSz="6223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GB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79360A0D-1517-F49B-F138-F0229C21E3F5}"/>
              </a:ext>
            </a:extLst>
          </p:cNvPr>
          <p:cNvSpPr/>
          <p:nvPr/>
        </p:nvSpPr>
        <p:spPr>
          <a:xfrm>
            <a:off x="2240919" y="1964599"/>
            <a:ext cx="1677375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p = 0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C0EB735-0F8E-D5F7-06DD-AF5824096561}"/>
              </a:ext>
            </a:extLst>
          </p:cNvPr>
          <p:cNvSpPr/>
          <p:nvPr/>
        </p:nvSpPr>
        <p:spPr>
          <a:xfrm>
            <a:off x="334809" y="3085270"/>
            <a:ext cx="1578408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= 0</a:t>
            </a:r>
            <a:endParaRPr lang="en-GB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CD34CE86-7DCA-C0B3-42DF-1DB6DD075C78}"/>
              </a:ext>
            </a:extLst>
          </p:cNvPr>
          <p:cNvSpPr/>
          <p:nvPr/>
        </p:nvSpPr>
        <p:spPr>
          <a:xfrm>
            <a:off x="729411" y="420594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ompare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a[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]&gt;a[i+1]?</a:t>
            </a:r>
            <a:endParaRPr lang="en-GB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4C258AF7-0F61-243F-139C-DA0FC8AE861B}"/>
              </a:ext>
            </a:extLst>
          </p:cNvPr>
          <p:cNvSpPr/>
          <p:nvPr/>
        </p:nvSpPr>
        <p:spPr>
          <a:xfrm>
            <a:off x="729411" y="532661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wap?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1ACFBEE5-5198-7156-DA3A-0DCC272A2787}"/>
              </a:ext>
            </a:extLst>
          </p:cNvPr>
          <p:cNvSpPr/>
          <p:nvPr/>
        </p:nvSpPr>
        <p:spPr>
          <a:xfrm>
            <a:off x="2244683" y="3085270"/>
            <a:ext cx="1578408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= 1</a:t>
            </a:r>
            <a:endParaRPr lang="en-GB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D6DFF4E5-0DA9-0A79-66C0-BF7457A795AB}"/>
              </a:ext>
            </a:extLst>
          </p:cNvPr>
          <p:cNvSpPr/>
          <p:nvPr/>
        </p:nvSpPr>
        <p:spPr>
          <a:xfrm>
            <a:off x="2639285" y="420594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a[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]&gt;a[i+1]?</a:t>
            </a: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EFD38574-EB99-05D2-053A-9FB53E5629EA}"/>
              </a:ext>
            </a:extLst>
          </p:cNvPr>
          <p:cNvSpPr/>
          <p:nvPr/>
        </p:nvSpPr>
        <p:spPr>
          <a:xfrm>
            <a:off x="2639285" y="532661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wap?</a:t>
            </a: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3F768195-10FA-E4BC-A578-44705E754EE8}"/>
              </a:ext>
            </a:extLst>
          </p:cNvPr>
          <p:cNvSpPr/>
          <p:nvPr/>
        </p:nvSpPr>
        <p:spPr>
          <a:xfrm>
            <a:off x="4154557" y="3085270"/>
            <a:ext cx="1578408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5BA41BDF-0553-693D-8481-526979BECBDE}"/>
              </a:ext>
            </a:extLst>
          </p:cNvPr>
          <p:cNvSpPr/>
          <p:nvPr/>
        </p:nvSpPr>
        <p:spPr>
          <a:xfrm>
            <a:off x="4549159" y="420594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a[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]&gt;a[i+1]?</a:t>
            </a: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BC071261-33F2-7661-6967-DC9085202163}"/>
              </a:ext>
            </a:extLst>
          </p:cNvPr>
          <p:cNvSpPr/>
          <p:nvPr/>
        </p:nvSpPr>
        <p:spPr>
          <a:xfrm>
            <a:off x="4549159" y="532661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wap?</a:t>
            </a:r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13A69352-ACE8-CCC1-E689-DF537776D231}"/>
              </a:ext>
            </a:extLst>
          </p:cNvPr>
          <p:cNvSpPr/>
          <p:nvPr/>
        </p:nvSpPr>
        <p:spPr>
          <a:xfrm>
            <a:off x="6968878" y="1974334"/>
            <a:ext cx="1673612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p = 1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C18AE0F7-7E27-45DD-0357-1E8566635AA4}"/>
              </a:ext>
            </a:extLst>
          </p:cNvPr>
          <p:cNvSpPr/>
          <p:nvPr/>
        </p:nvSpPr>
        <p:spPr>
          <a:xfrm>
            <a:off x="6064431" y="3085270"/>
            <a:ext cx="1578408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= 0</a:t>
            </a:r>
            <a:endParaRPr lang="en-GB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A4EDCAC4-5570-BAE6-C24D-4D333F73B42D}"/>
              </a:ext>
            </a:extLst>
          </p:cNvPr>
          <p:cNvSpPr/>
          <p:nvPr/>
        </p:nvSpPr>
        <p:spPr>
          <a:xfrm>
            <a:off x="6459033" y="420594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a[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]&gt;a[i+1]?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A0D425D4-7425-C806-6C4D-F3D31A35699E}"/>
              </a:ext>
            </a:extLst>
          </p:cNvPr>
          <p:cNvSpPr/>
          <p:nvPr/>
        </p:nvSpPr>
        <p:spPr>
          <a:xfrm>
            <a:off x="6459033" y="532661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swap?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9EC6678D-C646-D34F-BE30-E7E45B24EC9C}"/>
              </a:ext>
            </a:extLst>
          </p:cNvPr>
          <p:cNvSpPr/>
          <p:nvPr/>
        </p:nvSpPr>
        <p:spPr>
          <a:xfrm>
            <a:off x="7974306" y="3085270"/>
            <a:ext cx="1578408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E3E9D12D-398A-F508-E1A2-106A5FEAB331}"/>
              </a:ext>
            </a:extLst>
          </p:cNvPr>
          <p:cNvSpPr/>
          <p:nvPr/>
        </p:nvSpPr>
        <p:spPr>
          <a:xfrm>
            <a:off x="8368908" y="420594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a[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]&gt;a[i+1]?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42115E3E-D547-2817-C96E-EF9FA73B86E2}"/>
              </a:ext>
            </a:extLst>
          </p:cNvPr>
          <p:cNvSpPr/>
          <p:nvPr/>
        </p:nvSpPr>
        <p:spPr>
          <a:xfrm>
            <a:off x="8368908" y="532661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swap?</a:t>
            </a: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18F76118-1196-62D5-AF3A-597223C4A329}"/>
              </a:ext>
            </a:extLst>
          </p:cNvPr>
          <p:cNvSpPr/>
          <p:nvPr/>
        </p:nvSpPr>
        <p:spPr>
          <a:xfrm>
            <a:off x="9867265" y="1964599"/>
            <a:ext cx="1744142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p = 2</a:t>
            </a:r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A8ED1CE1-98C2-AB41-4758-1777E5E5A09B}"/>
              </a:ext>
            </a:extLst>
          </p:cNvPr>
          <p:cNvSpPr/>
          <p:nvPr/>
        </p:nvSpPr>
        <p:spPr>
          <a:xfrm>
            <a:off x="9979752" y="3085270"/>
            <a:ext cx="1578408" cy="789204"/>
          </a:xfrm>
          <a:custGeom>
            <a:avLst/>
            <a:gdLst>
              <a:gd name="connsiteX0" fmla="*/ 0 w 1578408"/>
              <a:gd name="connsiteY0" fmla="*/ 394602 h 789204"/>
              <a:gd name="connsiteX1" fmla="*/ 789204 w 1578408"/>
              <a:gd name="connsiteY1" fmla="*/ 0 h 789204"/>
              <a:gd name="connsiteX2" fmla="*/ 1578408 w 1578408"/>
              <a:gd name="connsiteY2" fmla="*/ 394602 h 789204"/>
              <a:gd name="connsiteX3" fmla="*/ 789204 w 1578408"/>
              <a:gd name="connsiteY3" fmla="*/ 789204 h 789204"/>
              <a:gd name="connsiteX4" fmla="*/ 0 w 1578408"/>
              <a:gd name="connsiteY4" fmla="*/ 394602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394602"/>
                </a:moveTo>
                <a:cubicBezTo>
                  <a:pt x="0" y="176669"/>
                  <a:pt x="353339" y="0"/>
                  <a:pt x="789204" y="0"/>
                </a:cubicBezTo>
                <a:cubicBezTo>
                  <a:pt x="1225069" y="0"/>
                  <a:pt x="1578408" y="176669"/>
                  <a:pt x="1578408" y="394602"/>
                </a:cubicBezTo>
                <a:cubicBezTo>
                  <a:pt x="1578408" y="612535"/>
                  <a:pt x="1225069" y="789204"/>
                  <a:pt x="789204" y="789204"/>
                </a:cubicBezTo>
                <a:cubicBezTo>
                  <a:pt x="353339" y="789204"/>
                  <a:pt x="0" y="612535"/>
                  <a:pt x="0" y="39460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0042" tIns="124466" rIns="240042" bIns="124466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= 0</a:t>
            </a:r>
            <a:endParaRPr lang="en-GB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B2E9DB0E-BD8F-9BAC-2BEA-ED11998E0812}"/>
              </a:ext>
            </a:extLst>
          </p:cNvPr>
          <p:cNvSpPr/>
          <p:nvPr/>
        </p:nvSpPr>
        <p:spPr>
          <a:xfrm>
            <a:off x="10283621" y="420594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a[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]&gt;a[i+1]?</a:t>
            </a:r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CF34BACC-9F87-F232-D82E-AF27CC9E4CFB}"/>
              </a:ext>
            </a:extLst>
          </p:cNvPr>
          <p:cNvSpPr/>
          <p:nvPr/>
        </p:nvSpPr>
        <p:spPr>
          <a:xfrm>
            <a:off x="10283621" y="5326610"/>
            <a:ext cx="1578408" cy="789204"/>
          </a:xfrm>
          <a:custGeom>
            <a:avLst/>
            <a:gdLst>
              <a:gd name="connsiteX0" fmla="*/ 0 w 1578408"/>
              <a:gd name="connsiteY0" fmla="*/ 0 h 789204"/>
              <a:gd name="connsiteX1" fmla="*/ 1578408 w 1578408"/>
              <a:gd name="connsiteY1" fmla="*/ 0 h 789204"/>
              <a:gd name="connsiteX2" fmla="*/ 1578408 w 1578408"/>
              <a:gd name="connsiteY2" fmla="*/ 789204 h 789204"/>
              <a:gd name="connsiteX3" fmla="*/ 0 w 1578408"/>
              <a:gd name="connsiteY3" fmla="*/ 789204 h 789204"/>
              <a:gd name="connsiteX4" fmla="*/ 0 w 1578408"/>
              <a:gd name="connsiteY4" fmla="*/ 0 h 78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8408" h="789204">
                <a:moveTo>
                  <a:pt x="0" y="0"/>
                </a:moveTo>
                <a:lnTo>
                  <a:pt x="1578408" y="0"/>
                </a:lnTo>
                <a:lnTo>
                  <a:pt x="1578408" y="789204"/>
                </a:lnTo>
                <a:lnTo>
                  <a:pt x="0" y="78920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1F504-E3FE-06AD-7D4C-B43E5A2F12D3}"/>
              </a:ext>
            </a:extLst>
          </p:cNvPr>
          <p:cNvSpPr txBox="1"/>
          <p:nvPr/>
        </p:nvSpPr>
        <p:spPr>
          <a:xfrm>
            <a:off x="6295344" y="907067"/>
            <a:ext cx="113685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3,1,7,4]</a:t>
            </a:r>
            <a:endParaRPr lang="en-CH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15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10754</TotalTime>
  <Words>1386</Words>
  <Application>Microsoft Macintosh PowerPoint</Application>
  <PresentationFormat>Widescreen</PresentationFormat>
  <Paragraphs>205</Paragraphs>
  <Slides>16</Slides>
  <Notes>15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Menlo</vt:lpstr>
      <vt:lpstr>Office Theme</vt:lpstr>
      <vt:lpstr>SketchMind: Supporting Algorithmic Reasoning through Executable Sketching</vt:lpstr>
      <vt:lpstr>PowerPoint Presentation</vt:lpstr>
      <vt:lpstr>When students learn an algorithm,  how do we know they actually understand it?</vt:lpstr>
      <vt:lpstr>PowerPoint Presentation</vt:lpstr>
      <vt:lpstr>Supporting Algorithmic Reasoning through Executable Sketching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Wu</dc:creator>
  <cp:lastModifiedBy>Yang Wu</cp:lastModifiedBy>
  <cp:revision>15</cp:revision>
  <dcterms:created xsi:type="dcterms:W3CDTF">2026-04-03T07:31:08Z</dcterms:created>
  <dcterms:modified xsi:type="dcterms:W3CDTF">2026-06-03T18:15:49Z</dcterms:modified>
</cp:coreProperties>
</file>